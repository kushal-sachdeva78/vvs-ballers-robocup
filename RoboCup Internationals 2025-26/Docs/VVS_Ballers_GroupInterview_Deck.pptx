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0-1.jpg" ContentType="image/jpg"/>
  <Override PartName="/ppt/media/image-12-1.jpg" ContentType="image/jpg"/>
  <Override PartName="/ppt/media/image-13-1.jpg" ContentType="image/jpg"/>
  <Override PartName="/ppt/media/image-14-1.jpg" ContentType="image/jpg"/>
  <Override PartName="/ppt/media/image-16-1.jpg" ContentType="image/jpg"/>
  <Override PartName="/ppt/media/image-17-1.jpg" ContentType="image/jpg"/>
  <Override PartName="/ppt/media/image-2-1.jpg" ContentType="image/jpg"/>
  <Override PartName="/ppt/media/image-3-1.jpg" ContentType="image/jpg"/>
  <Override PartName="/ppt/media/image-4-1.jpg" ContentType="image/jpg"/>
  <Override PartName="/ppt/media/image-5-1.jpg" ContentType="image/jpg"/>
  <Override PartName="/ppt/media/image-6-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present (Kushal opens). ~25s: Hi, we're VVS Ballers from India in the IR League. I'm Kushal - team lead, electronics/firmware/CAD. I'm Darsh - mechanical and CAD. We field TWO robots on one shared platform: one attacker, one defender, trading roles automatically if a robot goes down. Almost everything - wheels, five PCBs, all firmware - we built from scratch this season. [TODO: confirm 'Lightweight World Champions' - not in sources; verifiable: 2025-26 India Nationals 1st + 2024-25 Brazil Top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~35s (Kushal): Quick tour. Both robots are identical hardware - only the firmware role differs. Each fits the IR box: under 22 cm and 1.5 kg. They drive holonomically on four omni wheels we printed ourselves, so they strafe straight at the ball from any angle while facing forward. Three Teensy 4.1s, two Nanos and an OpenMV camera split the work. Sensing: a 16-sensor IR ring, camera, floor line-array, four ultrasonics and a gyro. The attacker scores with a 48 V solenoid. Darsh will start with the part we're proudest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(Darsh): This is the part we're proudest of - and you can hold it. Most teams buy omni wheels or print only the hub and buy the rollers and metal axles. Ours is ENTIRELY printed: PETG hub, TPU rollers at 15% infill for grip, and even the axle the rollers spin on is printed from PETG filament. Nothing bought, nothing machined. No commercial wheel fit both our 22 cm limit and the smaller 2026 ball. Three print rounds to get roller diameter, count, grip and concentricity right. Any team with a home printer can make the same wheel - files are public. Kushal (~10s): Two runner-ups - a federated five-PCB stack with error-checked serial, and camera + IR fusion for short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(Kushal): Five boards we designed in KiCad and made at JLCPCB. Federated - each board has its own microcontroller and one job - which keeps wiring clean and lets every sensor run full speed. The Power PCB is a favourite: from one 12 V LiPo it makes four rails on a single board - 5 V for the Teensys and camera, 3.3 for sensor logic, 48 V boost for the kicker - with bulk caps on each rail. Boards talk to the main Teensy over UART, every message wrapped in a CRC-8 checksum, so a mid-match wire glitch is thrown away instead of steering us into a wall. Each wheel has its own DRV8263H driver in PH/EN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~35s (Darsh): We designed everything in Fusion 360 from hand sketches, and with our physics teacher compared 3- vs 4-wheel layouts, wheel diameters and sensor placement - all inside 22 cm and 1.5 kg. The 4-wheel diamond won: holonomic, and it spreads pushing force evenly in duels. The piece I'm proud of is a printed support-beam frame that clamps the main board, IR cover and ultrasonic board into one rigid stack, so the 16-sensor IR ring stays flat and aligned after collisions. The capture mouth cradles the ball in the legal 1.5 cm zone, and a printed door flap lets us watch the electronics and recalibrate mid-match.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(Kushal): The win is filtering, not expensive parts. Each of 16 IR receivers gives an intensity - baseline minus reading - and instead of picking the strongest, we take an intensity-weighted vector sum across every lit sensor with an atan2, add hysteresis and a moving average, and get a smooth bearing on a small, fast ball. Past ~60 cm the ring gets unsure, so the OpenMV camera also finds the orange ball and reconfirms direction. The line-array flags a boundary only when &gt;=2 sensors see white, the four ultrasonics are median-filtered, and a BNO055 gyro in IMUPLUS mode feeds a 100 Hz heading-hold PID that keeps us straight while we strafe.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Darsh: One robot chases and scores, one never leaves the goal. The attacker sorts the IR bearing into a drive direction and goes straight at the ball at full translate speed while the gyro holds it facing forward. On capture it holds heading, spins until the camera's open corner is within five degrees, and only then kicks - past the keeper. The defender stays on its goal line and runs a sideways PID on the ball's bearing to keep its body between ball and net, with an intercept boost when the ball moves fast. Kushal: They talk over 2.4 GHz - the only band RCJ allows. If the attacker is fouled or pulled off, the defender switches to attacker, so we're never a robot down AND wide open. They swap back at kick-off.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(Kushal): Every number here came from a failure. LEFT: we first grounded the drivers' current pins for max current; after ~5 min of pushing they overheated. A separate Arduino Nano now reads each driver's current sense and pulls DRVOFF to coast the motor above ~1 A - stall would be 1.6. Current clamps flat instead of climbing into the danger zone; the robot stays fast, lasts the whole match, and it's isolated so it protects the motors even if the main code hangs. RIGHT: IR-only bearing error spikes close to the ball; camera fusion keeps it low. Two more: bulk caps fixed an ultrasonic board that reset under load, and the wheels took three print rounds to get grip and concentricity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Darsh: Two-person team, clear roles: I own mechanical design and share CAD; Kushal owns electronics, firmware and PCBs and shares CAD. We planned in Notion - every task has an owner and a deadline - kept design files on Google Drive, and used GitHub for code and issues. Kushal: We built from February, four hours a day, then an 8-10 hour daily sprint through June. We used AI well - Claude's Fusion 360 tool helped lay out the IR support beams and two PCBs - and we can explain what it did versus what we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(Kushal): RoboCup is about sharing, so we published everything: firmware, KiCad schematics and PCBs, the Fusion CAD for wheels and frame, our posters, and a full BOM with part numbers and prices - about 600 euros a robot. The two things we'd most want another team to steal are the fully-printed omni wheel and the five-board layout - both reproducible at home. Our email and Instagram are on screen and in the repo - come find us in the pits, we'll help you print a wheel. Thank you - what would you like us to show or run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whichever a judge asks — one card per category. Judges ask at most one question per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Kushal (Darsh on wheels)
Which decisions were driven by which testing? What did you draw on?
- Almost every decision is testing-driven (three below).
- Motors overheating in stalls → external current limiter (~1 A cap).
- IR losing the ball under ~60 cm → camera + IR fusion.
- Ultrasonic board resetting under motor load → bulk caps per rail.
- Inspiration: RCJ awesome-rcj-soccer TDPs/posters; then improved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Kushal
Why did you pick this component? What did you blow up / how did you debug?
- DRV8263H: 12 V power, 3.3 V logic, PH/EN, IPROPI current-sense — which enabled our stall protection.
- Teensy 4.1: 600 MHz + many hardware UARTs (5 links + comms @100 Hz).
- Blew up: drivers overheated when we grounded IPROPI for max current → Nano pulls DRVOFF above ~1 A (stall 1.6).
- Ultrasonic PCB reset under load → scope showed rail sag → bulk caps per rail →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Darsh
Kicker/dribbler/camera — why or why not? Materials? How did you make the wheels?
- Kicker YES: 48 V solenoid scores decisively; defender reuses it to clear. Dribbler NO: printed mouth + solenoid already control the ball in the legal 1.5 cm zone.
- Camera YES: goal aim + short-range ball reconfirmation.
- Materials: PETG structure (stiff, impact-tough), TPU roller grip — after collision testing.
- Wheels: fully printed — PETG hub, TPU rollers (15% infill), printed PETG axle; 3 print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Darsh (Kushal on comms)
Robots here, ball here — what do they do? Occluded goal / ball not in view?
- Attacker sorts the bearing into a drive sector, translates straight at the ball (speed 250), gyro holds heading; on capture spins to the open corner (+/-5°) and kicks.
- Defender stays on the line, lateral PID between ball and goal; only leaves to CLEAR on contact.
- Occluded goal: no clean opening → corner-aim from the heading estimate, don't fire blindly.
- Ball not in view (IR = 500): attacker sweeps/holds, stays legal via line + ultrasonics; defender re-homes to 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Kushal
How does it make sense of sensors? How do you avoid out-of-bounds / getting stuck?
- Each board pre-processes and sends a compact message: IR &lt;dir&gt;a&lt;dist&gt;b (500 = no ball); camera a framed packet; ultrasonic/line CRC-framed. Stale links (&gt; 200 ms) ignored.
- Main board fuses: IR+camera for the ball, line+ultrasonic for boundaries, IMU for heading.
- Out of bounds: two-of-two rule — a side is the edge only when ultrasonic &lt; 300 mm AND that side sees white, debounced 3 passes.
- Defender back-wall rule: no reversing toward our own goal under 90 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Kushal + Darsh
What did you take ideas from? How did you track ideas and testing?
- Sources: RCJ awesome-rcj-soccer archive; OpenMV docs; Pololu/TI datasheets.
- Tracking: Notion board — every idea/task has an owner + deadline; results and 'what we tried' logged there.
- Version control: code + issues on GitHub; files on Google Drive.
- Testing ladder: components → single full robot → both robots together (role-switch + comms), with bench + field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033"/>
        </a:solidFill>
      </p:bgPr>
    </p:bg>
    <p:spTree>
      <p:nvGrpSpPr>
        <p:cNvPr id="1" name=""/>
        <p:cNvGrpSpPr/>
        <p:nvPr/>
      </p:nvGrpSpPr>
      <p:grpSpPr>
        <a:xfrm>
          <a:off x="0" y="0"/>
          <a:ext cx="0" cy="0"/>
          <a:chOff x="0" y="0"/>
          <a:chExt cx="0" cy="0"/>
        </a:xfrm>
      </p:grpSpPr>
      <p:sp>
        <p:nvSpPr>
          <p:cNvPr id="2" name="Shape 0"/>
          <p:cNvSpPr/>
          <p:nvPr/>
        </p:nvSpPr>
        <p:spPr>
          <a:xfrm>
            <a:off x="-1188720" y="2926080"/>
            <a:ext cx="3291840" cy="3291840"/>
          </a:xfrm>
          <a:prstGeom prst="ellipse">
            <a:avLst/>
          </a:prstGeom>
          <a:ln w="31750">
            <a:solidFill>
              <a:srgbClr val="1FA75B"/>
            </a:solidFill>
            <a:prstDash val="solid"/>
          </a:ln>
        </p:spPr>
        <p:txBody>
          <a:bodyPr/>
          <a:p/>
        </p:txBody>
      </p:sp>
      <p:sp>
        <p:nvSpPr>
          <p:cNvPr id="3" name="Shape 1"/>
          <p:cNvSpPr/>
          <p:nvPr/>
        </p:nvSpPr>
        <p:spPr>
          <a:xfrm>
            <a:off x="4572000" y="-1371600"/>
            <a:ext cx="2377440" cy="2377440"/>
          </a:xfrm>
          <a:prstGeom prst="ellipse">
            <a:avLst/>
          </a:prstGeom>
          <a:ln w="25400">
            <a:solidFill>
              <a:srgbClr val="E8912A"/>
            </a:solidFill>
            <a:prstDash val="solid"/>
          </a:ln>
        </p:spPr>
        <p:txBody>
          <a:bodyPr/>
          <a:p/>
        </p:txBody>
      </p:sp>
      <p:sp>
        <p:nvSpPr>
          <p:cNvPr id="4" name="Text 2"/>
          <p:cNvSpPr/>
          <p:nvPr/>
        </p:nvSpPr>
        <p:spPr>
          <a:xfrm>
            <a:off x="548640" y="822960"/>
            <a:ext cx="5212080" cy="914400"/>
          </a:xfrm>
          <a:prstGeom prst="rect">
            <a:avLst/>
          </a:prstGeom>
          <a:noFill/>
          <a:ln/>
        </p:spPr>
        <p:txBody>
          <a:bodyPr wrap="square"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VVS Ballers</a:t>
            </a:r>
            <a:endParaRPr lang="en-US" sz="5000" dirty="0"/>
          </a:p>
        </p:txBody>
      </p:sp>
      <p:sp>
        <p:nvSpPr>
          <p:cNvPr id="5" name="Text 3"/>
          <p:cNvSpPr/>
          <p:nvPr/>
        </p:nvSpPr>
        <p:spPr>
          <a:xfrm>
            <a:off x="566928" y="1783080"/>
            <a:ext cx="5212080" cy="457200"/>
          </a:xfrm>
          <a:prstGeom prst="rect">
            <a:avLst/>
          </a:prstGeom>
          <a:noFill/>
          <a:ln/>
        </p:spPr>
        <p:txBody>
          <a:bodyPr wrap="square" rtlCol="0" anchor="ctr"/>
          <a:lstStyle/>
          <a:p>
            <a:pPr indent="0" marL="0">
              <a:buNone/>
            </a:pPr>
            <a:r>
              <a:rPr lang="en-US" sz="1700" b="1" dirty="0">
                <a:solidFill>
                  <a:srgbClr val="1FA75B"/>
                </a:solidFill>
                <a:latin typeface="Calibri" pitchFamily="34" charset="0"/>
                <a:ea typeface="Calibri" pitchFamily="34" charset="-122"/>
                <a:cs typeface="Calibri" pitchFamily="34" charset="-120"/>
              </a:rPr>
              <a:t>RoboCupJunior Soccer · IR League (Lightweight)</a:t>
            </a:r>
            <a:endParaRPr lang="en-US" sz="1700" dirty="0"/>
          </a:p>
        </p:txBody>
      </p:sp>
      <p:sp>
        <p:nvSpPr>
          <p:cNvPr id="6" name="Text 4"/>
          <p:cNvSpPr/>
          <p:nvPr/>
        </p:nvSpPr>
        <p:spPr>
          <a:xfrm>
            <a:off x="566928" y="2212848"/>
            <a:ext cx="5212080" cy="36576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International Finals 2025-26 · India</a:t>
            </a:r>
            <a:endParaRPr lang="en-US" sz="1400" dirty="0"/>
          </a:p>
        </p:txBody>
      </p:sp>
      <p:sp>
        <p:nvSpPr>
          <p:cNvPr id="7" name="Text 5"/>
          <p:cNvSpPr/>
          <p:nvPr/>
        </p:nvSpPr>
        <p:spPr>
          <a:xfrm>
            <a:off x="566928" y="2880360"/>
            <a:ext cx="52120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Kushal Sachdeva</a:t>
            </a:r>
            <a:pPr indent="0" marL="0">
              <a:buNone/>
            </a:pPr>
            <a:r>
              <a:rPr lang="en-US" sz="1300" dirty="0">
                <a:solidFill>
                  <a:srgbClr val="CADCFC"/>
                </a:solidFill>
                <a:latin typeface="Calibri" pitchFamily="34" charset="0"/>
                <a:ea typeface="Calibri" pitchFamily="34" charset="-122"/>
                <a:cs typeface="Calibri" pitchFamily="34" charset="-120"/>
              </a:rPr>
              <a:t> — Team Lead · Electrical, Software &amp; CAD</a:t>
            </a:r>
            <a:endParaRPr lang="en-US" sz="1300" dirty="0"/>
          </a:p>
        </p:txBody>
      </p:sp>
      <p:sp>
        <p:nvSpPr>
          <p:cNvPr id="8" name="Text 6"/>
          <p:cNvSpPr/>
          <p:nvPr/>
        </p:nvSpPr>
        <p:spPr>
          <a:xfrm>
            <a:off x="566928" y="3246120"/>
            <a:ext cx="52120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Darsh Goel</a:t>
            </a:r>
            <a:pPr indent="0" marL="0">
              <a:buNone/>
            </a:pPr>
            <a:r>
              <a:rPr lang="en-US" sz="1300" dirty="0">
                <a:solidFill>
                  <a:srgbClr val="CADCFC"/>
                </a:solidFill>
                <a:latin typeface="Calibri" pitchFamily="34" charset="0"/>
                <a:ea typeface="Calibri" pitchFamily="34" charset="-122"/>
                <a:cs typeface="Calibri" pitchFamily="34" charset="-120"/>
              </a:rPr>
              <a:t> — Mechanical &amp; CAD</a:t>
            </a:r>
            <a:endParaRPr lang="en-US" sz="1300" dirty="0"/>
          </a:p>
        </p:txBody>
      </p:sp>
      <p:sp>
        <p:nvSpPr>
          <p:cNvPr id="9" name="Shape 7"/>
          <p:cNvSpPr/>
          <p:nvPr/>
        </p:nvSpPr>
        <p:spPr>
          <a:xfrm>
            <a:off x="566928" y="3886200"/>
            <a:ext cx="1463040" cy="658368"/>
          </a:xfrm>
          <a:prstGeom prst="roundRect">
            <a:avLst>
              <a:gd name="adj" fmla="val 8333"/>
            </a:avLst>
          </a:prstGeom>
          <a:solidFill>
            <a:srgbClr val="1FA75B"/>
          </a:solidFill>
          <a:ln/>
        </p:spPr>
        <p:txBody>
          <a:bodyPr/>
          <a:p/>
        </p:txBody>
      </p:sp>
      <p:sp>
        <p:nvSpPr>
          <p:cNvPr id="10" name="Text 8"/>
          <p:cNvSpPr/>
          <p:nvPr/>
        </p:nvSpPr>
        <p:spPr>
          <a:xfrm>
            <a:off x="566928" y="3931920"/>
            <a:ext cx="146304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566928" y="4288536"/>
            <a:ext cx="146304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ROBOTS</a:t>
            </a:r>
            <a:endParaRPr lang="en-US" sz="850" dirty="0"/>
          </a:p>
        </p:txBody>
      </p:sp>
      <p:sp>
        <p:nvSpPr>
          <p:cNvPr id="12" name="Shape 10"/>
          <p:cNvSpPr/>
          <p:nvPr/>
        </p:nvSpPr>
        <p:spPr>
          <a:xfrm>
            <a:off x="2194560" y="3886200"/>
            <a:ext cx="1463040" cy="658368"/>
          </a:xfrm>
          <a:prstGeom prst="roundRect">
            <a:avLst>
              <a:gd name="adj" fmla="val 8333"/>
            </a:avLst>
          </a:prstGeom>
          <a:solidFill>
            <a:srgbClr val="E8912A"/>
          </a:solidFill>
          <a:ln/>
        </p:spPr>
        <p:txBody>
          <a:bodyPr/>
          <a:p/>
        </p:txBody>
      </p:sp>
      <p:sp>
        <p:nvSpPr>
          <p:cNvPr id="13" name="Text 11"/>
          <p:cNvSpPr/>
          <p:nvPr/>
        </p:nvSpPr>
        <p:spPr>
          <a:xfrm>
            <a:off x="2194560" y="3931920"/>
            <a:ext cx="146304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4" name="Text 12"/>
          <p:cNvSpPr/>
          <p:nvPr/>
        </p:nvSpPr>
        <p:spPr>
          <a:xfrm>
            <a:off x="2194560" y="4288536"/>
            <a:ext cx="146304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CUSTOM PCBs</a:t>
            </a:r>
            <a:endParaRPr lang="en-US" sz="850" dirty="0"/>
          </a:p>
        </p:txBody>
      </p:sp>
      <p:sp>
        <p:nvSpPr>
          <p:cNvPr id="15" name="Shape 13"/>
          <p:cNvSpPr/>
          <p:nvPr/>
        </p:nvSpPr>
        <p:spPr>
          <a:xfrm>
            <a:off x="3822192" y="3886200"/>
            <a:ext cx="1463040" cy="658368"/>
          </a:xfrm>
          <a:prstGeom prst="roundRect">
            <a:avLst>
              <a:gd name="adj" fmla="val 8333"/>
            </a:avLst>
          </a:prstGeom>
          <a:solidFill>
            <a:srgbClr val="0E9BA6"/>
          </a:solidFill>
          <a:ln/>
        </p:spPr>
        <p:txBody>
          <a:bodyPr/>
          <a:p/>
        </p:txBody>
      </p:sp>
      <p:sp>
        <p:nvSpPr>
          <p:cNvPr id="16" name="Text 14"/>
          <p:cNvSpPr/>
          <p:nvPr/>
        </p:nvSpPr>
        <p:spPr>
          <a:xfrm>
            <a:off x="3822192" y="3931920"/>
            <a:ext cx="146304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16</a:t>
            </a:r>
            <a:endParaRPr lang="en-US" sz="1800" dirty="0"/>
          </a:p>
        </p:txBody>
      </p:sp>
      <p:sp>
        <p:nvSpPr>
          <p:cNvPr id="17" name="Text 15"/>
          <p:cNvSpPr/>
          <p:nvPr/>
        </p:nvSpPr>
        <p:spPr>
          <a:xfrm>
            <a:off x="3822192" y="4288536"/>
            <a:ext cx="146304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IR SENSORS</a:t>
            </a:r>
            <a:endParaRPr lang="en-US" sz="850" dirty="0"/>
          </a:p>
        </p:txBody>
      </p:sp>
      <p:pic>
        <p:nvPicPr>
          <p:cNvPr id="18" name="Image 0" descr="/sessions/gifted-vigilant-johnson/mnt/outputs/img/team.jpg">    </p:cNvPr>
          <p:cNvPicPr>
            <a:picLocks noChangeAspect="1"/>
          </p:cNvPicPr>
          <p:nvPr/>
        </p:nvPicPr>
        <p:blipFill>
          <a:blip r:embed="rId1"/>
          <a:stretch>
            <a:fillRect/>
          </a:stretch>
        </p:blipFill>
        <p:spPr>
          <a:xfrm>
            <a:off x="5852160" y="619470"/>
            <a:ext cx="2926080" cy="3790259"/>
          </a:xfrm>
          <a:prstGeom prst="rect">
            <a:avLst/>
          </a:prstGeom>
          <a:effectLst>
            <a:outerShdw sx="100000" sy="100000" kx="0" ky="0" algn="bl" rotWithShape="0" blurRad="101600" dist="38100" dir="5400000">
              <a:srgbClr val="555f6b">
                <a:alpha val="35000"/>
              </a:srgbClr>
            </a:outerShdw>
          </a:effectLst>
        </p:spPr>
      </p:pic>
      <p:sp>
        <p:nvSpPr>
          <p:cNvPr id="19" name="Shape 16"/>
          <p:cNvSpPr/>
          <p:nvPr/>
        </p:nvSpPr>
        <p:spPr>
          <a:xfrm>
            <a:off x="5852160" y="619470"/>
            <a:ext cx="2926080" cy="3790259"/>
          </a:xfrm>
          <a:prstGeom prst="rect">
            <a:avLst/>
          </a:prstGeom>
          <a:ln w="19050">
            <a:solidFill>
              <a:srgbClr val="1FA75B"/>
            </a:solidFill>
            <a:prstDash val="solid"/>
          </a:ln>
        </p:spPr>
        <p:txBody>
          <a:bodyPr/>
          <a:p/>
        </p:txBody>
      </p:sp>
      <p:sp>
        <p:nvSpPr>
          <p:cNvPr id="20" name="Text 17"/>
          <p:cNvSpPr/>
          <p:nvPr/>
        </p:nvSpPr>
        <p:spPr>
          <a:xfrm>
            <a:off x="5852160" y="4544568"/>
            <a:ext cx="2926080" cy="219456"/>
          </a:xfrm>
          <a:prstGeom prst="rect">
            <a:avLst/>
          </a:prstGeom>
          <a:noFill/>
          <a:ln/>
        </p:spPr>
        <p:txBody>
          <a:bodyPr wrap="square" lIns="0" tIns="0" rIns="0" bIns="0" rtlCol="0" anchor="ctr"/>
          <a:lstStyle/>
          <a:p>
            <a:pPr algn="ctr" indent="0" marL="0">
              <a:buNone/>
            </a:pPr>
            <a:r>
              <a:rPr lang="en-US" sz="950" i="1" dirty="0">
                <a:solidFill>
                  <a:srgbClr val="5C6773"/>
                </a:solidFill>
                <a:latin typeface="Calibri" pitchFamily="34" charset="0"/>
                <a:ea typeface="Calibri" pitchFamily="34" charset="-122"/>
                <a:cs typeface="Calibri" pitchFamily="34" charset="-120"/>
              </a:rPr>
              <a:t>Kushal Sachdeva &amp; Darsh Goel with both robots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457200" cy="457200"/>
          </a:xfrm>
          <a:prstGeom prst="ellipse">
            <a:avLst/>
          </a:prstGeom>
          <a:solidFill>
            <a:srgbClr val="0E9BA6"/>
          </a:solidFill>
          <a:ln/>
        </p:spPr>
        <p:txBody>
          <a:bodyPr/>
          <a:p/>
        </p:txBody>
      </p:sp>
      <p:sp>
        <p:nvSpPr>
          <p:cNvPr id="3" name="Text 1"/>
          <p:cNvSpPr/>
          <p:nvPr/>
        </p:nvSpPr>
        <p:spPr>
          <a:xfrm>
            <a:off x="457200" y="3657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4" name="Text 2"/>
          <p:cNvSpPr/>
          <p:nvPr/>
        </p:nvSpPr>
        <p:spPr>
          <a:xfrm>
            <a:off x="1051560" y="365760"/>
            <a:ext cx="7589520" cy="457200"/>
          </a:xfrm>
          <a:prstGeom prst="rect">
            <a:avLst/>
          </a:prstGeom>
          <a:noFill/>
          <a:ln/>
        </p:spPr>
        <p:txBody>
          <a:bodyPr wrap="square" lIns="0" tIns="0" rIns="0" bIns="0" rtlCol="0" anchor="ctr"/>
          <a:lstStyle/>
          <a:p>
            <a:pPr indent="0" marL="0">
              <a:buNone/>
            </a:pPr>
            <a:r>
              <a:rPr lang="en-US" sz="1250" b="1" spc="200" kern="0" dirty="0">
                <a:solidFill>
                  <a:srgbClr val="0E9BA6"/>
                </a:solidFill>
                <a:latin typeface="Calibri" pitchFamily="34" charset="0"/>
                <a:ea typeface="Calibri" pitchFamily="34" charset="-122"/>
                <a:cs typeface="Calibri" pitchFamily="34" charset="-120"/>
              </a:rPr>
              <a:t>ROBOT AT A GLANCE</a:t>
            </a:r>
            <a:endParaRPr lang="en-US" sz="1250" dirty="0"/>
          </a:p>
        </p:txBody>
      </p:sp>
      <p:sp>
        <p:nvSpPr>
          <p:cNvPr id="5" name="Text 3"/>
          <p:cNvSpPr/>
          <p:nvPr/>
        </p:nvSpPr>
        <p:spPr>
          <a:xfrm>
            <a:off x="457200" y="822960"/>
            <a:ext cx="8229600" cy="502920"/>
          </a:xfrm>
          <a:prstGeom prst="rect">
            <a:avLst/>
          </a:prstGeom>
          <a:noFill/>
          <a:ln/>
        </p:spPr>
        <p:txBody>
          <a:bodyPr wrap="square" rtlCol="0" anchor="ctr"/>
          <a:lstStyle/>
          <a:p>
            <a:pPr indent="0" marL="0">
              <a:buNone/>
            </a:pPr>
            <a:r>
              <a:rPr lang="en-US" sz="2600" b="1" dirty="0">
                <a:solidFill>
                  <a:srgbClr val="13233B"/>
                </a:solidFill>
                <a:latin typeface="Cambria" pitchFamily="34" charset="0"/>
                <a:ea typeface="Cambria" pitchFamily="34" charset="-122"/>
                <a:cs typeface="Cambria" pitchFamily="34" charset="-120"/>
              </a:rPr>
              <a:t>Robot at a Glance</a:t>
            </a:r>
            <a:endParaRPr lang="en-US" sz="2600" dirty="0"/>
          </a:p>
        </p:txBody>
      </p:sp>
      <p:sp>
        <p:nvSpPr>
          <p:cNvPr id="6" name="Text 4"/>
          <p:cNvSpPr/>
          <p:nvPr/>
        </p:nvSpPr>
        <p:spPr>
          <a:xfrm>
            <a:off x="457200" y="1344168"/>
            <a:ext cx="8229600" cy="347472"/>
          </a:xfrm>
          <a:prstGeom prst="rect">
            <a:avLst/>
          </a:prstGeom>
          <a:noFill/>
          <a:ln/>
        </p:spPr>
        <p:txBody>
          <a:bodyPr wrap="square" rtlCol="0" anchor="ctr"/>
          <a:lstStyle/>
          <a:p>
            <a:pPr indent="0" marL="0">
              <a:buNone/>
            </a:pPr>
            <a:r>
              <a:rPr lang="en-US" sz="1350" b="1" i="1" dirty="0">
                <a:solidFill>
                  <a:srgbClr val="0E9BA6"/>
                </a:solidFill>
                <a:latin typeface="Calibri" pitchFamily="34" charset="0"/>
                <a:ea typeface="Calibri" pitchFamily="34" charset="-122"/>
                <a:cs typeface="Calibri" pitchFamily="34" charset="-120"/>
              </a:rPr>
              <a:t>Two identical robots; only the firmware role differs — one attacks, one defends.</a:t>
            </a:r>
            <a:endParaRPr lang="en-US" sz="1350" dirty="0"/>
          </a:p>
        </p:txBody>
      </p:sp>
      <p:sp>
        <p:nvSpPr>
          <p:cNvPr id="7" name="Shape 5"/>
          <p:cNvSpPr/>
          <p:nvPr/>
        </p:nvSpPr>
        <p:spPr>
          <a:xfrm>
            <a:off x="365760" y="1783080"/>
            <a:ext cx="4800600" cy="2240280"/>
          </a:xfrm>
          <a:prstGeom prst="roundRect">
            <a:avLst>
              <a:gd name="adj" fmla="val 2041"/>
            </a:avLst>
          </a:prstGeom>
          <a:solidFill>
            <a:srgbClr val="0E9BA6">
              <a:alpha val="9000"/>
            </a:srgbClr>
          </a:solidFill>
          <a:ln w="12700">
            <a:solidFill>
              <a:srgbClr val="0E9BA6">
                <a:alpha val="45000"/>
              </a:srgbClr>
            </a:solidFill>
            <a:prstDash val="solid"/>
          </a:ln>
        </p:spPr>
        <p:txBody>
          <a:bodyPr/>
          <a:p/>
        </p:txBody>
      </p:sp>
      <p:sp>
        <p:nvSpPr>
          <p:cNvPr id="8" name="Text 6"/>
          <p:cNvSpPr/>
          <p:nvPr/>
        </p:nvSpPr>
        <p:spPr>
          <a:xfrm>
            <a:off x="566928" y="1874520"/>
            <a:ext cx="4434840" cy="2084832"/>
          </a:xfrm>
          <a:prstGeom prst="rect">
            <a:avLst/>
          </a:prstGeom>
          <a:noFill/>
          <a:ln/>
        </p:spPr>
        <p:txBody>
          <a:bodyPr wrap="square" rtlCol="0" anchor="t">
            <a:normAutofit/>
          </a:bodyPr>
          <a:lstStyle/>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Two robots, one shared platform — role set in firmware</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Inside IR-league limits: &lt;= 22 cm wide, &lt;= 1.5 kg</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Holonomic drive — 4 self-printed omni wheels (diamond)</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Brains: 3x Teensy 4.1 + 2x Nano Every + OpenMV H7</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Senses: 16-IR ring, camera, line array, 4 ultrasonics, IMU</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Scores with a 48 V solenoid kicker</a:t>
            </a:r>
            <a:endParaRPr lang="en-US" sz="1350" dirty="0"/>
          </a:p>
        </p:txBody>
      </p:sp>
      <p:pic>
        <p:nvPicPr>
          <p:cNvPr id="9" name="Image 0" descr="/sessions/gifted-vigilant-johnson/mnt/outputs/img/robot1_overall.jpg">    </p:cNvPr>
          <p:cNvPicPr>
            <a:picLocks noChangeAspect="1"/>
          </p:cNvPicPr>
          <p:nvPr/>
        </p:nvPicPr>
        <p:blipFill>
          <a:blip r:embed="rId1"/>
          <a:stretch>
            <a:fillRect/>
          </a:stretch>
        </p:blipFill>
        <p:spPr>
          <a:xfrm>
            <a:off x="5608678" y="1783080"/>
            <a:ext cx="2864404" cy="2148840"/>
          </a:xfrm>
          <a:prstGeom prst="rect">
            <a:avLst/>
          </a:prstGeom>
          <a:effectLst>
            <a:outerShdw sx="100000" sy="100000" kx="0" ky="0" algn="bl" rotWithShape="0" blurRad="101600" dist="38100" dir="5400000">
              <a:srgbClr val="555f6b">
                <a:alpha val="35000"/>
              </a:srgbClr>
            </a:outerShdw>
          </a:effectLst>
        </p:spPr>
      </p:pic>
      <p:sp>
        <p:nvSpPr>
          <p:cNvPr id="10" name="Shape 7"/>
          <p:cNvSpPr/>
          <p:nvPr/>
        </p:nvSpPr>
        <p:spPr>
          <a:xfrm>
            <a:off x="5608678" y="1783080"/>
            <a:ext cx="2864404" cy="2148840"/>
          </a:xfrm>
          <a:prstGeom prst="rect">
            <a:avLst/>
          </a:prstGeom>
          <a:ln w="19050">
            <a:solidFill>
              <a:srgbClr val="0E9BA6"/>
            </a:solidFill>
            <a:prstDash val="solid"/>
          </a:ln>
        </p:spPr>
        <p:txBody>
          <a:bodyPr/>
          <a:p/>
        </p:txBody>
      </p:sp>
      <p:sp>
        <p:nvSpPr>
          <p:cNvPr id="11" name="Text 8"/>
          <p:cNvSpPr/>
          <p:nvPr/>
        </p:nvSpPr>
        <p:spPr>
          <a:xfrm>
            <a:off x="5349240" y="3950208"/>
            <a:ext cx="3383280" cy="219456"/>
          </a:xfrm>
          <a:prstGeom prst="rect">
            <a:avLst/>
          </a:prstGeom>
          <a:noFill/>
          <a:ln/>
        </p:spPr>
        <p:txBody>
          <a:bodyPr wrap="square" lIns="0" tIns="0" rIns="0" bIns="0" rtlCol="0" anchor="ctr"/>
          <a:lstStyle/>
          <a:p>
            <a:pPr algn="ctr" indent="0" marL="0">
              <a:buNone/>
            </a:pPr>
            <a:r>
              <a:rPr lang="en-US" sz="950" i="1" dirty="0">
                <a:solidFill>
                  <a:srgbClr val="5C6773"/>
                </a:solidFill>
                <a:latin typeface="Calibri" pitchFamily="34" charset="0"/>
                <a:ea typeface="Calibri" pitchFamily="34" charset="-122"/>
                <a:cs typeface="Calibri" pitchFamily="34" charset="-120"/>
              </a:rPr>
              <a:t>Competition robot — within 22 cm / 1.5 kg</a:t>
            </a:r>
            <a:endParaRPr lang="en-US" sz="950" dirty="0"/>
          </a:p>
        </p:txBody>
      </p:sp>
      <p:sp>
        <p:nvSpPr>
          <p:cNvPr id="12" name="Shape 9"/>
          <p:cNvSpPr/>
          <p:nvPr/>
        </p:nvSpPr>
        <p:spPr>
          <a:xfrm>
            <a:off x="365760" y="4206240"/>
            <a:ext cx="2697480" cy="658368"/>
          </a:xfrm>
          <a:prstGeom prst="roundRect">
            <a:avLst>
              <a:gd name="adj" fmla="val 8333"/>
            </a:avLst>
          </a:prstGeom>
          <a:solidFill>
            <a:srgbClr val="0E9BA6"/>
          </a:solidFill>
          <a:ln/>
          <a:effectLst>
            <a:outerShdw sx="100000" sy="100000" kx="0" ky="0" algn="bl" rotWithShape="0" blurRad="63500" dist="25400" dir="5400000">
              <a:srgbClr val="9AA6B2">
                <a:alpha val="25000"/>
              </a:srgbClr>
            </a:outerShdw>
          </a:effectLst>
        </p:spPr>
        <p:txBody>
          <a:bodyPr/>
          <a:p/>
        </p:txBody>
      </p:sp>
      <p:sp>
        <p:nvSpPr>
          <p:cNvPr id="13" name="Text 10"/>
          <p:cNvSpPr/>
          <p:nvPr/>
        </p:nvSpPr>
        <p:spPr>
          <a:xfrm>
            <a:off x="420624" y="4251960"/>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22 cm</a:t>
            </a:r>
            <a:endParaRPr lang="en-US" sz="1800" dirty="0"/>
          </a:p>
        </p:txBody>
      </p:sp>
      <p:sp>
        <p:nvSpPr>
          <p:cNvPr id="14" name="Text 11"/>
          <p:cNvSpPr/>
          <p:nvPr/>
        </p:nvSpPr>
        <p:spPr>
          <a:xfrm>
            <a:off x="420624" y="4608576"/>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MAX WIDTH</a:t>
            </a:r>
            <a:endParaRPr lang="en-US" sz="850" dirty="0"/>
          </a:p>
        </p:txBody>
      </p:sp>
      <p:sp>
        <p:nvSpPr>
          <p:cNvPr id="15" name="Shape 12"/>
          <p:cNvSpPr/>
          <p:nvPr/>
        </p:nvSpPr>
        <p:spPr>
          <a:xfrm>
            <a:off x="3200400" y="4206240"/>
            <a:ext cx="2697480" cy="658368"/>
          </a:xfrm>
          <a:prstGeom prst="roundRect">
            <a:avLst>
              <a:gd name="adj" fmla="val 8333"/>
            </a:avLst>
          </a:prstGeom>
          <a:solidFill>
            <a:srgbClr val="0E9BA6"/>
          </a:solidFill>
          <a:ln/>
          <a:effectLst>
            <a:outerShdw sx="100000" sy="100000" kx="0" ky="0" algn="bl" rotWithShape="0" blurRad="63500" dist="25400" dir="5400000">
              <a:srgbClr val="9AA6B2">
                <a:alpha val="25000"/>
              </a:srgbClr>
            </a:outerShdw>
          </a:effectLst>
        </p:spPr>
        <p:txBody>
          <a:bodyPr/>
          <a:p/>
        </p:txBody>
      </p:sp>
      <p:sp>
        <p:nvSpPr>
          <p:cNvPr id="16" name="Text 13"/>
          <p:cNvSpPr/>
          <p:nvPr/>
        </p:nvSpPr>
        <p:spPr>
          <a:xfrm>
            <a:off x="3255264" y="4251960"/>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16</a:t>
            </a:r>
            <a:endParaRPr lang="en-US" sz="1800" dirty="0"/>
          </a:p>
        </p:txBody>
      </p:sp>
      <p:sp>
        <p:nvSpPr>
          <p:cNvPr id="17" name="Text 14"/>
          <p:cNvSpPr/>
          <p:nvPr/>
        </p:nvSpPr>
        <p:spPr>
          <a:xfrm>
            <a:off x="3255264" y="4608576"/>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IR SENSORS</a:t>
            </a:r>
            <a:endParaRPr lang="en-US" sz="850" dirty="0"/>
          </a:p>
        </p:txBody>
      </p:sp>
      <p:sp>
        <p:nvSpPr>
          <p:cNvPr id="18" name="Shape 15"/>
          <p:cNvSpPr/>
          <p:nvPr/>
        </p:nvSpPr>
        <p:spPr>
          <a:xfrm>
            <a:off x="6035040" y="4206240"/>
            <a:ext cx="2697480" cy="658368"/>
          </a:xfrm>
          <a:prstGeom prst="roundRect">
            <a:avLst>
              <a:gd name="adj" fmla="val 8333"/>
            </a:avLst>
          </a:prstGeom>
          <a:solidFill>
            <a:srgbClr val="0E9BA6"/>
          </a:solidFill>
          <a:ln/>
          <a:effectLst>
            <a:outerShdw sx="100000" sy="100000" kx="0" ky="0" algn="bl" rotWithShape="0" blurRad="63500" dist="25400" dir="5400000">
              <a:srgbClr val="9AA6B2">
                <a:alpha val="25000"/>
              </a:srgbClr>
            </a:outerShdw>
          </a:effectLst>
        </p:spPr>
        <p:txBody>
          <a:bodyPr/>
          <a:p/>
        </p:txBody>
      </p:sp>
      <p:sp>
        <p:nvSpPr>
          <p:cNvPr id="19" name="Text 16"/>
          <p:cNvSpPr/>
          <p:nvPr/>
        </p:nvSpPr>
        <p:spPr>
          <a:xfrm>
            <a:off x="6089904" y="4251960"/>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48 V</a:t>
            </a:r>
            <a:endParaRPr lang="en-US" sz="1800" dirty="0"/>
          </a:p>
        </p:txBody>
      </p:sp>
      <p:sp>
        <p:nvSpPr>
          <p:cNvPr id="20" name="Text 17"/>
          <p:cNvSpPr/>
          <p:nvPr/>
        </p:nvSpPr>
        <p:spPr>
          <a:xfrm>
            <a:off x="6089904" y="4608576"/>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KICKER</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457200" cy="457200"/>
          </a:xfrm>
          <a:prstGeom prst="ellipse">
            <a:avLst/>
          </a:prstGeom>
          <a:solidFill>
            <a:srgbClr val="E8912A"/>
          </a:solidFill>
          <a:ln/>
        </p:spPr>
        <p:txBody>
          <a:bodyPr/>
          <a:p/>
        </p:txBody>
      </p:sp>
      <p:sp>
        <p:nvSpPr>
          <p:cNvPr id="3" name="Text 1"/>
          <p:cNvSpPr/>
          <p:nvPr/>
        </p:nvSpPr>
        <p:spPr>
          <a:xfrm>
            <a:off x="457200" y="3657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4" name="Text 2"/>
          <p:cNvSpPr/>
          <p:nvPr/>
        </p:nvSpPr>
        <p:spPr>
          <a:xfrm>
            <a:off x="1051560" y="365760"/>
            <a:ext cx="7589520" cy="457200"/>
          </a:xfrm>
          <a:prstGeom prst="rect">
            <a:avLst/>
          </a:prstGeom>
          <a:noFill/>
          <a:ln/>
        </p:spPr>
        <p:txBody>
          <a:bodyPr wrap="square" lIns="0" tIns="0" rIns="0" bIns="0" rtlCol="0" anchor="ctr"/>
          <a:lstStyle/>
          <a:p>
            <a:pPr indent="0" marL="0">
              <a:buNone/>
            </a:pPr>
            <a:r>
              <a:rPr lang="en-US" sz="1250" b="1" spc="200" kern="0" dirty="0">
                <a:solidFill>
                  <a:srgbClr val="E8912A"/>
                </a:solidFill>
                <a:latin typeface="Calibri" pitchFamily="34" charset="0"/>
                <a:ea typeface="Calibri" pitchFamily="34" charset="-122"/>
                <a:cs typeface="Calibri" pitchFamily="34" charset="-120"/>
              </a:rPr>
              <a:t>SIGNATURE INNOVATION</a:t>
            </a:r>
            <a:endParaRPr lang="en-US" sz="1250" dirty="0"/>
          </a:p>
        </p:txBody>
      </p:sp>
      <p:sp>
        <p:nvSpPr>
          <p:cNvPr id="5" name="Text 3"/>
          <p:cNvSpPr/>
          <p:nvPr/>
        </p:nvSpPr>
        <p:spPr>
          <a:xfrm>
            <a:off x="457200" y="822960"/>
            <a:ext cx="8229600" cy="502920"/>
          </a:xfrm>
          <a:prstGeom prst="rect">
            <a:avLst/>
          </a:prstGeom>
          <a:noFill/>
          <a:ln/>
        </p:spPr>
        <p:txBody>
          <a:bodyPr wrap="square" rtlCol="0" anchor="ctr"/>
          <a:lstStyle/>
          <a:p>
            <a:pPr indent="0" marL="0">
              <a:buNone/>
            </a:pPr>
            <a:r>
              <a:rPr lang="en-US" sz="2600" b="1" dirty="0">
                <a:solidFill>
                  <a:srgbClr val="13233B"/>
                </a:solidFill>
                <a:latin typeface="Cambria" pitchFamily="34" charset="0"/>
                <a:ea typeface="Cambria" pitchFamily="34" charset="-122"/>
                <a:cs typeface="Cambria" pitchFamily="34" charset="-120"/>
              </a:rPr>
              <a:t>Omni Wheels We Print at Home</a:t>
            </a:r>
            <a:endParaRPr lang="en-US" sz="2600" dirty="0"/>
          </a:p>
        </p:txBody>
      </p:sp>
      <p:sp>
        <p:nvSpPr>
          <p:cNvPr id="6" name="Text 4"/>
          <p:cNvSpPr/>
          <p:nvPr/>
        </p:nvSpPr>
        <p:spPr>
          <a:xfrm>
            <a:off x="457200" y="1344168"/>
            <a:ext cx="8229600" cy="347472"/>
          </a:xfrm>
          <a:prstGeom prst="rect">
            <a:avLst/>
          </a:prstGeom>
          <a:noFill/>
          <a:ln/>
        </p:spPr>
        <p:txBody>
          <a:bodyPr wrap="square" rtlCol="0" anchor="ctr"/>
          <a:lstStyle/>
          <a:p>
            <a:pPr indent="0" marL="0">
              <a:buNone/>
            </a:pPr>
            <a:r>
              <a:rPr lang="en-US" sz="1350" b="1" i="1" dirty="0">
                <a:solidFill>
                  <a:srgbClr val="E8912A"/>
                </a:solidFill>
                <a:latin typeface="Calibri" pitchFamily="34" charset="0"/>
                <a:ea typeface="Calibri" pitchFamily="34" charset="-122"/>
                <a:cs typeface="Calibri" pitchFamily="34" charset="-120"/>
              </a:rPr>
              <a:t>No off-the-shelf wheel fit our size limit — so we print the whole wheel, axles included.</a:t>
            </a:r>
            <a:endParaRPr lang="en-US" sz="1350" dirty="0"/>
          </a:p>
        </p:txBody>
      </p:sp>
      <p:sp>
        <p:nvSpPr>
          <p:cNvPr id="7" name="Shape 5"/>
          <p:cNvSpPr/>
          <p:nvPr/>
        </p:nvSpPr>
        <p:spPr>
          <a:xfrm>
            <a:off x="365760" y="1783080"/>
            <a:ext cx="4800600" cy="2240280"/>
          </a:xfrm>
          <a:prstGeom prst="roundRect">
            <a:avLst>
              <a:gd name="adj" fmla="val 2041"/>
            </a:avLst>
          </a:prstGeom>
          <a:solidFill>
            <a:srgbClr val="E8912A">
              <a:alpha val="9000"/>
            </a:srgbClr>
          </a:solidFill>
          <a:ln w="12700">
            <a:solidFill>
              <a:srgbClr val="E8912A">
                <a:alpha val="45000"/>
              </a:srgbClr>
            </a:solidFill>
            <a:prstDash val="solid"/>
          </a:ln>
        </p:spPr>
        <p:txBody>
          <a:bodyPr/>
          <a:p/>
        </p:txBody>
      </p:sp>
      <p:sp>
        <p:nvSpPr>
          <p:cNvPr id="8" name="Text 6"/>
          <p:cNvSpPr/>
          <p:nvPr/>
        </p:nvSpPr>
        <p:spPr>
          <a:xfrm>
            <a:off x="566928" y="1874520"/>
            <a:ext cx="4434840" cy="2084832"/>
          </a:xfrm>
          <a:prstGeom prst="rect">
            <a:avLst/>
          </a:prstGeom>
          <a:noFill/>
          <a:ln/>
        </p:spPr>
        <p:txBody>
          <a:bodyPr wrap="square" rtlCol="0" anchor="t">
            <a:normAutofit/>
          </a:bodyPr>
          <a:lstStyle/>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Fully 3D-printed omni wheel — including the roller axles</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PETG hub (stiff) + TPU rollers at 15% infill (grip)</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Roller axle printed from PETG filament — nothing bought</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3 print rounds: diameter, roller count, grip, concentricity</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Replicable on any home printer — files published</a:t>
            </a:r>
            <a:endParaRPr lang="en-US" sz="1350" dirty="0"/>
          </a:p>
        </p:txBody>
      </p:sp>
      <p:pic>
        <p:nvPicPr>
          <p:cNvPr id="9" name="Image 0" descr="/sessions/gifted-vigilant-johnson/mnt/outputs/img/wheel_open.jpg">    </p:cNvPr>
          <p:cNvPicPr>
            <a:picLocks noChangeAspect="1"/>
          </p:cNvPicPr>
          <p:nvPr/>
        </p:nvPicPr>
        <p:blipFill>
          <a:blip r:embed="rId1"/>
          <a:stretch>
            <a:fillRect/>
          </a:stretch>
        </p:blipFill>
        <p:spPr>
          <a:xfrm>
            <a:off x="5608678" y="1783080"/>
            <a:ext cx="2864404" cy="2148840"/>
          </a:xfrm>
          <a:prstGeom prst="rect">
            <a:avLst/>
          </a:prstGeom>
          <a:effectLst>
            <a:outerShdw sx="100000" sy="100000" kx="0" ky="0" algn="bl" rotWithShape="0" blurRad="101600" dist="38100" dir="5400000">
              <a:srgbClr val="555f6b">
                <a:alpha val="35000"/>
              </a:srgbClr>
            </a:outerShdw>
          </a:effectLst>
        </p:spPr>
      </p:pic>
      <p:sp>
        <p:nvSpPr>
          <p:cNvPr id="10" name="Shape 7"/>
          <p:cNvSpPr/>
          <p:nvPr/>
        </p:nvSpPr>
        <p:spPr>
          <a:xfrm>
            <a:off x="5608678" y="1783080"/>
            <a:ext cx="2864404" cy="2148840"/>
          </a:xfrm>
          <a:prstGeom prst="rect">
            <a:avLst/>
          </a:prstGeom>
          <a:ln w="19050">
            <a:solidFill>
              <a:srgbClr val="E8912A"/>
            </a:solidFill>
            <a:prstDash val="solid"/>
          </a:ln>
        </p:spPr>
        <p:txBody>
          <a:bodyPr/>
          <a:p/>
        </p:txBody>
      </p:sp>
      <p:sp>
        <p:nvSpPr>
          <p:cNvPr id="11" name="Text 8"/>
          <p:cNvSpPr/>
          <p:nvPr/>
        </p:nvSpPr>
        <p:spPr>
          <a:xfrm>
            <a:off x="5349240" y="3950208"/>
            <a:ext cx="3383280" cy="219456"/>
          </a:xfrm>
          <a:prstGeom prst="rect">
            <a:avLst/>
          </a:prstGeom>
          <a:noFill/>
          <a:ln/>
        </p:spPr>
        <p:txBody>
          <a:bodyPr wrap="square" lIns="0" tIns="0" rIns="0" bIns="0" rtlCol="0" anchor="ctr"/>
          <a:lstStyle/>
          <a:p>
            <a:pPr algn="ctr" indent="0" marL="0">
              <a:buNone/>
            </a:pPr>
            <a:r>
              <a:rPr lang="en-US" sz="950" i="1" dirty="0">
                <a:solidFill>
                  <a:srgbClr val="5C6773"/>
                </a:solidFill>
                <a:latin typeface="Calibri" pitchFamily="34" charset="0"/>
                <a:ea typeface="Calibri" pitchFamily="34" charset="-122"/>
                <a:cs typeface="Calibri" pitchFamily="34" charset="-120"/>
              </a:rPr>
              <a:t>Fully-printed wheel — PETG hub, TPU rollers, printed PETG axle</a:t>
            </a:r>
            <a:endParaRPr lang="en-US" sz="950" dirty="0"/>
          </a:p>
        </p:txBody>
      </p:sp>
      <p:sp>
        <p:nvSpPr>
          <p:cNvPr id="12" name="Shape 9"/>
          <p:cNvSpPr/>
          <p:nvPr/>
        </p:nvSpPr>
        <p:spPr>
          <a:xfrm>
            <a:off x="365760" y="4206240"/>
            <a:ext cx="2697480" cy="658368"/>
          </a:xfrm>
          <a:prstGeom prst="roundRect">
            <a:avLst>
              <a:gd name="adj" fmla="val 8333"/>
            </a:avLst>
          </a:prstGeom>
          <a:solidFill>
            <a:srgbClr val="E8912A"/>
          </a:solidFill>
          <a:ln/>
          <a:effectLst>
            <a:outerShdw sx="100000" sy="100000" kx="0" ky="0" algn="bl" rotWithShape="0" blurRad="63500" dist="25400" dir="5400000">
              <a:srgbClr val="9AA6B2">
                <a:alpha val="25000"/>
              </a:srgbClr>
            </a:outerShdw>
          </a:effectLst>
        </p:spPr>
        <p:txBody>
          <a:bodyPr/>
          <a:p/>
        </p:txBody>
      </p:sp>
      <p:sp>
        <p:nvSpPr>
          <p:cNvPr id="13" name="Text 10"/>
          <p:cNvSpPr/>
          <p:nvPr/>
        </p:nvSpPr>
        <p:spPr>
          <a:xfrm>
            <a:off x="420624" y="4251960"/>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1"/>
          <p:cNvSpPr/>
          <p:nvPr/>
        </p:nvSpPr>
        <p:spPr>
          <a:xfrm>
            <a:off x="420624" y="4608576"/>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PRINT ROUNDS</a:t>
            </a:r>
            <a:endParaRPr lang="en-US" sz="850" dirty="0"/>
          </a:p>
        </p:txBody>
      </p:sp>
      <p:sp>
        <p:nvSpPr>
          <p:cNvPr id="15" name="Shape 12"/>
          <p:cNvSpPr/>
          <p:nvPr/>
        </p:nvSpPr>
        <p:spPr>
          <a:xfrm>
            <a:off x="3200400" y="4206240"/>
            <a:ext cx="2697480" cy="658368"/>
          </a:xfrm>
          <a:prstGeom prst="roundRect">
            <a:avLst>
              <a:gd name="adj" fmla="val 8333"/>
            </a:avLst>
          </a:prstGeom>
          <a:solidFill>
            <a:srgbClr val="E8912A"/>
          </a:solidFill>
          <a:ln/>
          <a:effectLst>
            <a:outerShdw sx="100000" sy="100000" kx="0" ky="0" algn="bl" rotWithShape="0" blurRad="63500" dist="25400" dir="5400000">
              <a:srgbClr val="9AA6B2">
                <a:alpha val="25000"/>
              </a:srgbClr>
            </a:outerShdw>
          </a:effectLst>
        </p:spPr>
        <p:txBody>
          <a:bodyPr/>
          <a:p/>
        </p:txBody>
      </p:sp>
      <p:sp>
        <p:nvSpPr>
          <p:cNvPr id="16" name="Text 13"/>
          <p:cNvSpPr/>
          <p:nvPr/>
        </p:nvSpPr>
        <p:spPr>
          <a:xfrm>
            <a:off x="3255264" y="4251960"/>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15%</a:t>
            </a:r>
            <a:endParaRPr lang="en-US" sz="1800" dirty="0"/>
          </a:p>
        </p:txBody>
      </p:sp>
      <p:sp>
        <p:nvSpPr>
          <p:cNvPr id="17" name="Text 14"/>
          <p:cNvSpPr/>
          <p:nvPr/>
        </p:nvSpPr>
        <p:spPr>
          <a:xfrm>
            <a:off x="3255264" y="4608576"/>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TPU INFILL</a:t>
            </a:r>
            <a:endParaRPr lang="en-US" sz="850" dirty="0"/>
          </a:p>
        </p:txBody>
      </p:sp>
      <p:sp>
        <p:nvSpPr>
          <p:cNvPr id="18" name="Shape 15"/>
          <p:cNvSpPr/>
          <p:nvPr/>
        </p:nvSpPr>
        <p:spPr>
          <a:xfrm>
            <a:off x="6035040" y="4206240"/>
            <a:ext cx="2697480" cy="658368"/>
          </a:xfrm>
          <a:prstGeom prst="roundRect">
            <a:avLst>
              <a:gd name="adj" fmla="val 8333"/>
            </a:avLst>
          </a:prstGeom>
          <a:solidFill>
            <a:srgbClr val="E8912A"/>
          </a:solidFill>
          <a:ln/>
          <a:effectLst>
            <a:outerShdw sx="100000" sy="100000" kx="0" ky="0" algn="bl" rotWithShape="0" blurRad="63500" dist="25400" dir="5400000">
              <a:srgbClr val="9AA6B2">
                <a:alpha val="25000"/>
              </a:srgbClr>
            </a:outerShdw>
          </a:effectLst>
        </p:spPr>
        <p:txBody>
          <a:bodyPr/>
          <a:p/>
        </p:txBody>
      </p:sp>
      <p:sp>
        <p:nvSpPr>
          <p:cNvPr id="19" name="Text 16"/>
          <p:cNvSpPr/>
          <p:nvPr/>
        </p:nvSpPr>
        <p:spPr>
          <a:xfrm>
            <a:off x="6089904" y="4251960"/>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a:t>
            </a:r>
            <a:endParaRPr lang="en-US" sz="1800" dirty="0"/>
          </a:p>
        </p:txBody>
      </p:sp>
      <p:sp>
        <p:nvSpPr>
          <p:cNvPr id="20" name="Text 17"/>
          <p:cNvSpPr/>
          <p:nvPr/>
        </p:nvSpPr>
        <p:spPr>
          <a:xfrm>
            <a:off x="6089904" y="4608576"/>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MACHINED PARTS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457200" cy="457200"/>
          </a:xfrm>
          <a:prstGeom prst="ellipse">
            <a:avLst/>
          </a:prstGeom>
          <a:solidFill>
            <a:srgbClr val="2F6FB0"/>
          </a:solidFill>
          <a:ln/>
        </p:spPr>
        <p:txBody>
          <a:bodyPr/>
          <a:p/>
        </p:txBody>
      </p:sp>
      <p:sp>
        <p:nvSpPr>
          <p:cNvPr id="3" name="Text 1"/>
          <p:cNvSpPr/>
          <p:nvPr/>
        </p:nvSpPr>
        <p:spPr>
          <a:xfrm>
            <a:off x="457200" y="3657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4" name="Text 2"/>
          <p:cNvSpPr/>
          <p:nvPr/>
        </p:nvSpPr>
        <p:spPr>
          <a:xfrm>
            <a:off x="1051560" y="365760"/>
            <a:ext cx="7589520" cy="457200"/>
          </a:xfrm>
          <a:prstGeom prst="rect">
            <a:avLst/>
          </a:prstGeom>
          <a:noFill/>
          <a:ln/>
        </p:spPr>
        <p:txBody>
          <a:bodyPr wrap="square" lIns="0" tIns="0" rIns="0" bIns="0" rtlCol="0" anchor="ctr"/>
          <a:lstStyle/>
          <a:p>
            <a:pPr indent="0" marL="0">
              <a:buNone/>
            </a:pPr>
            <a:r>
              <a:rPr lang="en-US" sz="1250" b="1" spc="200" kern="0" dirty="0">
                <a:solidFill>
                  <a:srgbClr val="2F6FB0"/>
                </a:solidFill>
                <a:latin typeface="Calibri" pitchFamily="34" charset="0"/>
                <a:ea typeface="Calibri" pitchFamily="34" charset="-122"/>
                <a:cs typeface="Calibri" pitchFamily="34" charset="-120"/>
              </a:rPr>
              <a:t>ELECTRICAL</a:t>
            </a:r>
            <a:endParaRPr lang="en-US" sz="1250" dirty="0"/>
          </a:p>
        </p:txBody>
      </p:sp>
      <p:sp>
        <p:nvSpPr>
          <p:cNvPr id="5" name="Text 3"/>
          <p:cNvSpPr/>
          <p:nvPr/>
        </p:nvSpPr>
        <p:spPr>
          <a:xfrm>
            <a:off x="457200" y="822960"/>
            <a:ext cx="8229600" cy="502920"/>
          </a:xfrm>
          <a:prstGeom prst="rect">
            <a:avLst/>
          </a:prstGeom>
          <a:noFill/>
          <a:ln/>
        </p:spPr>
        <p:txBody>
          <a:bodyPr wrap="square" rtlCol="0" anchor="ctr"/>
          <a:lstStyle/>
          <a:p>
            <a:pPr indent="0" marL="0">
              <a:buNone/>
            </a:pPr>
            <a:r>
              <a:rPr lang="en-US" sz="2600" b="1" dirty="0">
                <a:solidFill>
                  <a:srgbClr val="13233B"/>
                </a:solidFill>
                <a:latin typeface="Cambria" pitchFamily="34" charset="0"/>
                <a:ea typeface="Cambria" pitchFamily="34" charset="-122"/>
                <a:cs typeface="Cambria" pitchFamily="34" charset="-120"/>
              </a:rPr>
              <a:t>A Federated 5-PCB Stack</a:t>
            </a:r>
            <a:endParaRPr lang="en-US" sz="2600" dirty="0"/>
          </a:p>
        </p:txBody>
      </p:sp>
      <p:sp>
        <p:nvSpPr>
          <p:cNvPr id="6" name="Text 4"/>
          <p:cNvSpPr/>
          <p:nvPr/>
        </p:nvSpPr>
        <p:spPr>
          <a:xfrm>
            <a:off x="457200" y="1344168"/>
            <a:ext cx="8229600" cy="347472"/>
          </a:xfrm>
          <a:prstGeom prst="rect">
            <a:avLst/>
          </a:prstGeom>
          <a:noFill/>
          <a:ln/>
        </p:spPr>
        <p:txBody>
          <a:bodyPr wrap="square" rtlCol="0" anchor="ctr"/>
          <a:lstStyle/>
          <a:p>
            <a:pPr indent="0" marL="0">
              <a:buNone/>
            </a:pPr>
            <a:r>
              <a:rPr lang="en-US" sz="1350" b="1" i="1" dirty="0">
                <a:solidFill>
                  <a:srgbClr val="2F6FB0"/>
                </a:solidFill>
                <a:latin typeface="Calibri" pitchFamily="34" charset="0"/>
                <a:ea typeface="Calibri" pitchFamily="34" charset="-122"/>
                <a:cs typeface="Calibri" pitchFamily="34" charset="-120"/>
              </a:rPr>
              <a:t>Five purpose-built boards, one battery, and error-checked links between them.</a:t>
            </a:r>
            <a:endParaRPr lang="en-US" sz="1350" dirty="0"/>
          </a:p>
        </p:txBody>
      </p:sp>
      <p:sp>
        <p:nvSpPr>
          <p:cNvPr id="7" name="Shape 5"/>
          <p:cNvSpPr/>
          <p:nvPr/>
        </p:nvSpPr>
        <p:spPr>
          <a:xfrm>
            <a:off x="365760" y="1783080"/>
            <a:ext cx="4800600" cy="2240280"/>
          </a:xfrm>
          <a:prstGeom prst="roundRect">
            <a:avLst>
              <a:gd name="adj" fmla="val 2041"/>
            </a:avLst>
          </a:prstGeom>
          <a:solidFill>
            <a:srgbClr val="2F6FB0">
              <a:alpha val="9000"/>
            </a:srgbClr>
          </a:solidFill>
          <a:ln w="12700">
            <a:solidFill>
              <a:srgbClr val="2F6FB0">
                <a:alpha val="45000"/>
              </a:srgbClr>
            </a:solidFill>
            <a:prstDash val="solid"/>
          </a:ln>
        </p:spPr>
        <p:txBody>
          <a:bodyPr/>
          <a:p/>
        </p:txBody>
      </p:sp>
      <p:sp>
        <p:nvSpPr>
          <p:cNvPr id="8" name="Text 6"/>
          <p:cNvSpPr/>
          <p:nvPr/>
        </p:nvSpPr>
        <p:spPr>
          <a:xfrm>
            <a:off x="566928" y="1874520"/>
            <a:ext cx="4434840" cy="2084832"/>
          </a:xfrm>
          <a:prstGeom prst="rect">
            <a:avLst/>
          </a:prstGeom>
          <a:noFill/>
          <a:ln/>
        </p:spPr>
        <p:txBody>
          <a:bodyPr wrap="square" rtlCol="0" anchor="t">
            <a:normAutofit/>
          </a:bodyPr>
          <a:lstStyle/>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5 custom JLCPCB boards: Power, Main, IR, Line, Ultrasonic</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One 12 V LiPo -&gt; 4 clean rails: 12 V, 5 V, 3.3 V, 48 V</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Each board has its own MCU; CRC-8 framed UART</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A bad byte on any wire is rejected, not acted on</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4x DRV8263H drivers (PH/EN), one per wheel</a:t>
            </a:r>
            <a:endParaRPr lang="en-US" sz="1350" dirty="0"/>
          </a:p>
        </p:txBody>
      </p:sp>
      <p:pic>
        <p:nvPicPr>
          <p:cNvPr id="9" name="Image 0" descr="/sessions/gifted-vigilant-johnson/mnt/outputs/img/power_pcb_3d.jpg">    </p:cNvPr>
          <p:cNvPicPr>
            <a:picLocks noChangeAspect="1"/>
          </p:cNvPicPr>
          <p:nvPr/>
        </p:nvPicPr>
        <p:blipFill>
          <a:blip r:embed="rId1"/>
          <a:stretch>
            <a:fillRect/>
          </a:stretch>
        </p:blipFill>
        <p:spPr>
          <a:xfrm>
            <a:off x="5349240" y="2079377"/>
            <a:ext cx="3383280" cy="1556247"/>
          </a:xfrm>
          <a:prstGeom prst="rect">
            <a:avLst/>
          </a:prstGeom>
          <a:effectLst>
            <a:outerShdw sx="100000" sy="100000" kx="0" ky="0" algn="bl" rotWithShape="0" blurRad="101600" dist="38100" dir="5400000">
              <a:srgbClr val="555f6b">
                <a:alpha val="35000"/>
              </a:srgbClr>
            </a:outerShdw>
          </a:effectLst>
        </p:spPr>
      </p:pic>
      <p:sp>
        <p:nvSpPr>
          <p:cNvPr id="10" name="Shape 7"/>
          <p:cNvSpPr/>
          <p:nvPr/>
        </p:nvSpPr>
        <p:spPr>
          <a:xfrm>
            <a:off x="5349240" y="2079377"/>
            <a:ext cx="3383280" cy="1556247"/>
          </a:xfrm>
          <a:prstGeom prst="rect">
            <a:avLst/>
          </a:prstGeom>
          <a:ln w="19050">
            <a:solidFill>
              <a:srgbClr val="2F6FB0"/>
            </a:solidFill>
            <a:prstDash val="solid"/>
          </a:ln>
        </p:spPr>
        <p:txBody>
          <a:bodyPr/>
          <a:p/>
        </p:txBody>
      </p:sp>
      <p:sp>
        <p:nvSpPr>
          <p:cNvPr id="11" name="Text 8"/>
          <p:cNvSpPr/>
          <p:nvPr/>
        </p:nvSpPr>
        <p:spPr>
          <a:xfrm>
            <a:off x="5349240" y="3950208"/>
            <a:ext cx="3383280" cy="219456"/>
          </a:xfrm>
          <a:prstGeom prst="rect">
            <a:avLst/>
          </a:prstGeom>
          <a:noFill/>
          <a:ln/>
        </p:spPr>
        <p:txBody>
          <a:bodyPr wrap="square" lIns="0" tIns="0" rIns="0" bIns="0" rtlCol="0" anchor="ctr"/>
          <a:lstStyle/>
          <a:p>
            <a:pPr algn="ctr" indent="0" marL="0">
              <a:buNone/>
            </a:pPr>
            <a:r>
              <a:rPr lang="en-US" sz="950" i="1" dirty="0">
                <a:solidFill>
                  <a:srgbClr val="5C6773"/>
                </a:solidFill>
                <a:latin typeface="Calibri" pitchFamily="34" charset="0"/>
                <a:ea typeface="Calibri" pitchFamily="34" charset="-122"/>
                <a:cs typeface="Calibri" pitchFamily="34" charset="-120"/>
              </a:rPr>
              <a:t>Power PCB (3D) — one battery, four rails: 12/5/3.3/48 V</a:t>
            </a:r>
            <a:endParaRPr lang="en-US" sz="950" dirty="0"/>
          </a:p>
        </p:txBody>
      </p:sp>
      <p:sp>
        <p:nvSpPr>
          <p:cNvPr id="12" name="Shape 9"/>
          <p:cNvSpPr/>
          <p:nvPr/>
        </p:nvSpPr>
        <p:spPr>
          <a:xfrm>
            <a:off x="365760" y="4206240"/>
            <a:ext cx="2697480" cy="658368"/>
          </a:xfrm>
          <a:prstGeom prst="roundRect">
            <a:avLst>
              <a:gd name="adj" fmla="val 8333"/>
            </a:avLst>
          </a:prstGeom>
          <a:solidFill>
            <a:srgbClr val="2F6FB0"/>
          </a:solidFill>
          <a:ln/>
          <a:effectLst>
            <a:outerShdw sx="100000" sy="100000" kx="0" ky="0" algn="bl" rotWithShape="0" blurRad="63500" dist="25400" dir="5400000">
              <a:srgbClr val="9AA6B2">
                <a:alpha val="25000"/>
              </a:srgbClr>
            </a:outerShdw>
          </a:effectLst>
        </p:spPr>
        <p:txBody>
          <a:bodyPr/>
          <a:p/>
        </p:txBody>
      </p:sp>
      <p:sp>
        <p:nvSpPr>
          <p:cNvPr id="13" name="Text 10"/>
          <p:cNvSpPr/>
          <p:nvPr/>
        </p:nvSpPr>
        <p:spPr>
          <a:xfrm>
            <a:off x="420624" y="4251960"/>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4" name="Text 11"/>
          <p:cNvSpPr/>
          <p:nvPr/>
        </p:nvSpPr>
        <p:spPr>
          <a:xfrm>
            <a:off x="420624" y="4608576"/>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CUSTOM PCBs</a:t>
            </a:r>
            <a:endParaRPr lang="en-US" sz="850" dirty="0"/>
          </a:p>
        </p:txBody>
      </p:sp>
      <p:sp>
        <p:nvSpPr>
          <p:cNvPr id="15" name="Shape 12"/>
          <p:cNvSpPr/>
          <p:nvPr/>
        </p:nvSpPr>
        <p:spPr>
          <a:xfrm>
            <a:off x="3200400" y="4206240"/>
            <a:ext cx="2697480" cy="658368"/>
          </a:xfrm>
          <a:prstGeom prst="roundRect">
            <a:avLst>
              <a:gd name="adj" fmla="val 8333"/>
            </a:avLst>
          </a:prstGeom>
          <a:solidFill>
            <a:srgbClr val="2F6FB0"/>
          </a:solidFill>
          <a:ln/>
          <a:effectLst>
            <a:outerShdw sx="100000" sy="100000" kx="0" ky="0" algn="bl" rotWithShape="0" blurRad="63500" dist="25400" dir="5400000">
              <a:srgbClr val="9AA6B2">
                <a:alpha val="25000"/>
              </a:srgbClr>
            </a:outerShdw>
          </a:effectLst>
        </p:spPr>
        <p:txBody>
          <a:bodyPr/>
          <a:p/>
        </p:txBody>
      </p:sp>
      <p:sp>
        <p:nvSpPr>
          <p:cNvPr id="16" name="Text 13"/>
          <p:cNvSpPr/>
          <p:nvPr/>
        </p:nvSpPr>
        <p:spPr>
          <a:xfrm>
            <a:off x="3255264" y="4251960"/>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7" name="Text 14"/>
          <p:cNvSpPr/>
          <p:nvPr/>
        </p:nvSpPr>
        <p:spPr>
          <a:xfrm>
            <a:off x="3255264" y="4608576"/>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POWER RAILS</a:t>
            </a:r>
            <a:endParaRPr lang="en-US" sz="850" dirty="0"/>
          </a:p>
        </p:txBody>
      </p:sp>
      <p:sp>
        <p:nvSpPr>
          <p:cNvPr id="18" name="Shape 15"/>
          <p:cNvSpPr/>
          <p:nvPr/>
        </p:nvSpPr>
        <p:spPr>
          <a:xfrm>
            <a:off x="6035040" y="4206240"/>
            <a:ext cx="2697480" cy="658368"/>
          </a:xfrm>
          <a:prstGeom prst="roundRect">
            <a:avLst>
              <a:gd name="adj" fmla="val 8333"/>
            </a:avLst>
          </a:prstGeom>
          <a:solidFill>
            <a:srgbClr val="2F6FB0"/>
          </a:solidFill>
          <a:ln/>
          <a:effectLst>
            <a:outerShdw sx="100000" sy="100000" kx="0" ky="0" algn="bl" rotWithShape="0" blurRad="63500" dist="25400" dir="5400000">
              <a:srgbClr val="9AA6B2">
                <a:alpha val="25000"/>
              </a:srgbClr>
            </a:outerShdw>
          </a:effectLst>
        </p:spPr>
        <p:txBody>
          <a:bodyPr/>
          <a:p/>
        </p:txBody>
      </p:sp>
      <p:sp>
        <p:nvSpPr>
          <p:cNvPr id="19" name="Text 16"/>
          <p:cNvSpPr/>
          <p:nvPr/>
        </p:nvSpPr>
        <p:spPr>
          <a:xfrm>
            <a:off x="6089904" y="4251960"/>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CRC-8</a:t>
            </a:r>
            <a:endParaRPr lang="en-US" sz="1800" dirty="0"/>
          </a:p>
        </p:txBody>
      </p:sp>
      <p:sp>
        <p:nvSpPr>
          <p:cNvPr id="20" name="Text 17"/>
          <p:cNvSpPr/>
          <p:nvPr/>
        </p:nvSpPr>
        <p:spPr>
          <a:xfrm>
            <a:off x="6089904" y="4608576"/>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CHECKED LINKS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457200" cy="457200"/>
          </a:xfrm>
          <a:prstGeom prst="ellipse">
            <a:avLst/>
          </a:prstGeom>
          <a:solidFill>
            <a:srgbClr val="1FA75B"/>
          </a:solidFill>
          <a:ln/>
        </p:spPr>
        <p:txBody>
          <a:bodyPr/>
          <a:p/>
        </p:txBody>
      </p:sp>
      <p:sp>
        <p:nvSpPr>
          <p:cNvPr id="3" name="Text 1"/>
          <p:cNvSpPr/>
          <p:nvPr/>
        </p:nvSpPr>
        <p:spPr>
          <a:xfrm>
            <a:off x="457200" y="3657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 name="Text 2"/>
          <p:cNvSpPr/>
          <p:nvPr/>
        </p:nvSpPr>
        <p:spPr>
          <a:xfrm>
            <a:off x="1051560" y="365760"/>
            <a:ext cx="7589520" cy="457200"/>
          </a:xfrm>
          <a:prstGeom prst="rect">
            <a:avLst/>
          </a:prstGeom>
          <a:noFill/>
          <a:ln/>
        </p:spPr>
        <p:txBody>
          <a:bodyPr wrap="square" lIns="0" tIns="0" rIns="0" bIns="0" rtlCol="0" anchor="ctr"/>
          <a:lstStyle/>
          <a:p>
            <a:pPr indent="0" marL="0">
              <a:buNone/>
            </a:pPr>
            <a:r>
              <a:rPr lang="en-US" sz="1250" b="1" spc="200" kern="0" dirty="0">
                <a:solidFill>
                  <a:srgbClr val="1FA75B"/>
                </a:solidFill>
                <a:latin typeface="Calibri" pitchFamily="34" charset="0"/>
                <a:ea typeface="Calibri" pitchFamily="34" charset="-122"/>
                <a:cs typeface="Calibri" pitchFamily="34" charset="-120"/>
              </a:rPr>
              <a:t>MECHANICAL</a:t>
            </a:r>
            <a:endParaRPr lang="en-US" sz="1250" dirty="0"/>
          </a:p>
        </p:txBody>
      </p:sp>
      <p:sp>
        <p:nvSpPr>
          <p:cNvPr id="5" name="Text 3"/>
          <p:cNvSpPr/>
          <p:nvPr/>
        </p:nvSpPr>
        <p:spPr>
          <a:xfrm>
            <a:off x="457200" y="822960"/>
            <a:ext cx="8229600" cy="502920"/>
          </a:xfrm>
          <a:prstGeom prst="rect">
            <a:avLst/>
          </a:prstGeom>
          <a:noFill/>
          <a:ln/>
        </p:spPr>
        <p:txBody>
          <a:bodyPr wrap="square" rtlCol="0" anchor="ctr"/>
          <a:lstStyle/>
          <a:p>
            <a:pPr indent="0" marL="0">
              <a:buNone/>
            </a:pPr>
            <a:r>
              <a:rPr lang="en-US" sz="2600" b="1" dirty="0">
                <a:solidFill>
                  <a:srgbClr val="13233B"/>
                </a:solidFill>
                <a:latin typeface="Cambria" pitchFamily="34" charset="0"/>
                <a:ea typeface="Cambria" pitchFamily="34" charset="-122"/>
                <a:cs typeface="Cambria" pitchFamily="34" charset="-120"/>
              </a:rPr>
              <a:t>Frame, Wheels &amp; Kicker</a:t>
            </a:r>
            <a:endParaRPr lang="en-US" sz="2600" dirty="0"/>
          </a:p>
        </p:txBody>
      </p:sp>
      <p:sp>
        <p:nvSpPr>
          <p:cNvPr id="6" name="Text 4"/>
          <p:cNvSpPr/>
          <p:nvPr/>
        </p:nvSpPr>
        <p:spPr>
          <a:xfrm>
            <a:off x="457200" y="1344168"/>
            <a:ext cx="8229600" cy="347472"/>
          </a:xfrm>
          <a:prstGeom prst="rect">
            <a:avLst/>
          </a:prstGeom>
          <a:noFill/>
          <a:ln/>
        </p:spPr>
        <p:txBody>
          <a:bodyPr wrap="square" rtlCol="0" anchor="ctr"/>
          <a:lstStyle/>
          <a:p>
            <a:pPr indent="0" marL="0">
              <a:buNone/>
            </a:pPr>
            <a:r>
              <a:rPr lang="en-US" sz="1350" b="1" i="1" dirty="0">
                <a:solidFill>
                  <a:srgbClr val="1FA75B"/>
                </a:solidFill>
                <a:latin typeface="Calibri" pitchFamily="34" charset="0"/>
                <a:ea typeface="Calibri" pitchFamily="34" charset="-122"/>
                <a:cs typeface="Calibri" pitchFamily="34" charset="-120"/>
              </a:rPr>
              <a:t>A rigid printed frame keeps the sensor ring true — if the IR ring tilts, the bearing lies.</a:t>
            </a:r>
            <a:endParaRPr lang="en-US" sz="1350" dirty="0"/>
          </a:p>
        </p:txBody>
      </p:sp>
      <p:sp>
        <p:nvSpPr>
          <p:cNvPr id="7" name="Shape 5"/>
          <p:cNvSpPr/>
          <p:nvPr/>
        </p:nvSpPr>
        <p:spPr>
          <a:xfrm>
            <a:off x="365760" y="1783080"/>
            <a:ext cx="4800600" cy="2240280"/>
          </a:xfrm>
          <a:prstGeom prst="roundRect">
            <a:avLst>
              <a:gd name="adj" fmla="val 2041"/>
            </a:avLst>
          </a:prstGeom>
          <a:solidFill>
            <a:srgbClr val="1FA75B">
              <a:alpha val="9000"/>
            </a:srgbClr>
          </a:solidFill>
          <a:ln w="12700">
            <a:solidFill>
              <a:srgbClr val="1FA75B">
                <a:alpha val="45000"/>
              </a:srgbClr>
            </a:solidFill>
            <a:prstDash val="solid"/>
          </a:ln>
        </p:spPr>
        <p:txBody>
          <a:bodyPr/>
          <a:p/>
        </p:txBody>
      </p:sp>
      <p:sp>
        <p:nvSpPr>
          <p:cNvPr id="8" name="Text 6"/>
          <p:cNvSpPr/>
          <p:nvPr/>
        </p:nvSpPr>
        <p:spPr>
          <a:xfrm>
            <a:off x="566928" y="1874520"/>
            <a:ext cx="4434840" cy="2084832"/>
          </a:xfrm>
          <a:prstGeom prst="rect">
            <a:avLst/>
          </a:prstGeom>
          <a:noFill/>
          <a:ln/>
        </p:spPr>
        <p:txBody>
          <a:bodyPr wrap="square" rtlCol="0" anchor="t">
            <a:normAutofit/>
          </a:bodyPr>
          <a:lstStyle/>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Fusion 360 from hand sketches; 3- vs 4-wheel studied with our physics teacher</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4-wheel diamond — holonomic agility + even pushing force</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Support-beam frame keeps the 16-IR ring rigid &amp; planar</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Capture mouth cradles the ball in the 1.5 cm zone</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PETG structure / TPU grip · Bambu Lab · debug door flap</a:t>
            </a:r>
            <a:endParaRPr lang="en-US" sz="1350" dirty="0"/>
          </a:p>
        </p:txBody>
      </p:sp>
      <p:pic>
        <p:nvPicPr>
          <p:cNvPr id="9" name="Image 0" descr="/sessions/gifted-vigilant-johnson/mnt/outputs/img/support_beams.jpg">    </p:cNvPr>
          <p:cNvPicPr>
            <a:picLocks noChangeAspect="1"/>
          </p:cNvPicPr>
          <p:nvPr/>
        </p:nvPicPr>
        <p:blipFill>
          <a:blip r:embed="rId1"/>
          <a:stretch>
            <a:fillRect/>
          </a:stretch>
        </p:blipFill>
        <p:spPr>
          <a:xfrm>
            <a:off x="5349240" y="2079377"/>
            <a:ext cx="3383280" cy="1556247"/>
          </a:xfrm>
          <a:prstGeom prst="rect">
            <a:avLst/>
          </a:prstGeom>
          <a:effectLst>
            <a:outerShdw sx="100000" sy="100000" kx="0" ky="0" algn="bl" rotWithShape="0" blurRad="101600" dist="38100" dir="5400000">
              <a:srgbClr val="555f6b">
                <a:alpha val="35000"/>
              </a:srgbClr>
            </a:outerShdw>
          </a:effectLst>
        </p:spPr>
      </p:pic>
      <p:sp>
        <p:nvSpPr>
          <p:cNvPr id="10" name="Shape 7"/>
          <p:cNvSpPr/>
          <p:nvPr/>
        </p:nvSpPr>
        <p:spPr>
          <a:xfrm>
            <a:off x="5349240" y="2079377"/>
            <a:ext cx="3383280" cy="1556247"/>
          </a:xfrm>
          <a:prstGeom prst="rect">
            <a:avLst/>
          </a:prstGeom>
          <a:ln w="19050">
            <a:solidFill>
              <a:srgbClr val="1FA75B"/>
            </a:solidFill>
            <a:prstDash val="solid"/>
          </a:ln>
        </p:spPr>
        <p:txBody>
          <a:bodyPr/>
          <a:p/>
        </p:txBody>
      </p:sp>
      <p:sp>
        <p:nvSpPr>
          <p:cNvPr id="11" name="Text 8"/>
          <p:cNvSpPr/>
          <p:nvPr/>
        </p:nvSpPr>
        <p:spPr>
          <a:xfrm>
            <a:off x="5349240" y="3950208"/>
            <a:ext cx="3383280" cy="219456"/>
          </a:xfrm>
          <a:prstGeom prst="rect">
            <a:avLst/>
          </a:prstGeom>
          <a:noFill/>
          <a:ln/>
        </p:spPr>
        <p:txBody>
          <a:bodyPr wrap="square" lIns="0" tIns="0" rIns="0" bIns="0" rtlCol="0" anchor="ctr"/>
          <a:lstStyle/>
          <a:p>
            <a:pPr algn="ctr" indent="0" marL="0">
              <a:buNone/>
            </a:pPr>
            <a:r>
              <a:rPr lang="en-US" sz="950" i="1" dirty="0">
                <a:solidFill>
                  <a:srgbClr val="5C6773"/>
                </a:solidFill>
                <a:latin typeface="Calibri" pitchFamily="34" charset="0"/>
                <a:ea typeface="Calibri" pitchFamily="34" charset="-122"/>
                <a:cs typeface="Calibri" pitchFamily="34" charset="-120"/>
              </a:rPr>
              <a:t>Printed support-beam frame keeps the 16-IR ring rigid &amp; planar</a:t>
            </a:r>
            <a:endParaRPr lang="en-US" sz="950" dirty="0"/>
          </a:p>
        </p:txBody>
      </p:sp>
      <p:sp>
        <p:nvSpPr>
          <p:cNvPr id="12" name="Shape 9"/>
          <p:cNvSpPr/>
          <p:nvPr/>
        </p:nvSpPr>
        <p:spPr>
          <a:xfrm>
            <a:off x="365760" y="4206240"/>
            <a:ext cx="2697480" cy="658368"/>
          </a:xfrm>
          <a:prstGeom prst="roundRect">
            <a:avLst>
              <a:gd name="adj" fmla="val 8333"/>
            </a:avLst>
          </a:prstGeom>
          <a:solidFill>
            <a:srgbClr val="1FA75B"/>
          </a:solidFill>
          <a:ln/>
          <a:effectLst>
            <a:outerShdw sx="100000" sy="100000" kx="0" ky="0" algn="bl" rotWithShape="0" blurRad="63500" dist="25400" dir="5400000">
              <a:srgbClr val="9AA6B2">
                <a:alpha val="25000"/>
              </a:srgbClr>
            </a:outerShdw>
          </a:effectLst>
        </p:spPr>
        <p:txBody>
          <a:bodyPr/>
          <a:p/>
        </p:txBody>
      </p:sp>
      <p:sp>
        <p:nvSpPr>
          <p:cNvPr id="13" name="Text 10"/>
          <p:cNvSpPr/>
          <p:nvPr/>
        </p:nvSpPr>
        <p:spPr>
          <a:xfrm>
            <a:off x="420624" y="4251960"/>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4" name="Text 11"/>
          <p:cNvSpPr/>
          <p:nvPr/>
        </p:nvSpPr>
        <p:spPr>
          <a:xfrm>
            <a:off x="420624" y="4608576"/>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OMNI WHEELS</a:t>
            </a:r>
            <a:endParaRPr lang="en-US" sz="850" dirty="0"/>
          </a:p>
        </p:txBody>
      </p:sp>
      <p:sp>
        <p:nvSpPr>
          <p:cNvPr id="15" name="Shape 12"/>
          <p:cNvSpPr/>
          <p:nvPr/>
        </p:nvSpPr>
        <p:spPr>
          <a:xfrm>
            <a:off x="3200400" y="4206240"/>
            <a:ext cx="2697480" cy="658368"/>
          </a:xfrm>
          <a:prstGeom prst="roundRect">
            <a:avLst>
              <a:gd name="adj" fmla="val 8333"/>
            </a:avLst>
          </a:prstGeom>
          <a:solidFill>
            <a:srgbClr val="1FA75B"/>
          </a:solidFill>
          <a:ln/>
          <a:effectLst>
            <a:outerShdw sx="100000" sy="100000" kx="0" ky="0" algn="bl" rotWithShape="0" blurRad="63500" dist="25400" dir="5400000">
              <a:srgbClr val="9AA6B2">
                <a:alpha val="25000"/>
              </a:srgbClr>
            </a:outerShdw>
          </a:effectLst>
        </p:spPr>
        <p:txBody>
          <a:bodyPr/>
          <a:p/>
        </p:txBody>
      </p:sp>
      <p:sp>
        <p:nvSpPr>
          <p:cNvPr id="16" name="Text 13"/>
          <p:cNvSpPr/>
          <p:nvPr/>
        </p:nvSpPr>
        <p:spPr>
          <a:xfrm>
            <a:off x="3255264" y="4251960"/>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1.5 cm</a:t>
            </a:r>
            <a:endParaRPr lang="en-US" sz="1800" dirty="0"/>
          </a:p>
        </p:txBody>
      </p:sp>
      <p:sp>
        <p:nvSpPr>
          <p:cNvPr id="17" name="Text 14"/>
          <p:cNvSpPr/>
          <p:nvPr/>
        </p:nvSpPr>
        <p:spPr>
          <a:xfrm>
            <a:off x="3255264" y="4608576"/>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BALL ZONE</a:t>
            </a:r>
            <a:endParaRPr lang="en-US" sz="850" dirty="0"/>
          </a:p>
        </p:txBody>
      </p:sp>
      <p:sp>
        <p:nvSpPr>
          <p:cNvPr id="18" name="Shape 15"/>
          <p:cNvSpPr/>
          <p:nvPr/>
        </p:nvSpPr>
        <p:spPr>
          <a:xfrm>
            <a:off x="6035040" y="4206240"/>
            <a:ext cx="2697480" cy="658368"/>
          </a:xfrm>
          <a:prstGeom prst="roundRect">
            <a:avLst>
              <a:gd name="adj" fmla="val 8333"/>
            </a:avLst>
          </a:prstGeom>
          <a:solidFill>
            <a:srgbClr val="1FA75B"/>
          </a:solidFill>
          <a:ln/>
          <a:effectLst>
            <a:outerShdw sx="100000" sy="100000" kx="0" ky="0" algn="bl" rotWithShape="0" blurRad="63500" dist="25400" dir="5400000">
              <a:srgbClr val="9AA6B2">
                <a:alpha val="25000"/>
              </a:srgbClr>
            </a:outerShdw>
          </a:effectLst>
        </p:spPr>
        <p:txBody>
          <a:bodyPr/>
          <a:p/>
        </p:txBody>
      </p:sp>
      <p:sp>
        <p:nvSpPr>
          <p:cNvPr id="19" name="Text 16"/>
          <p:cNvSpPr/>
          <p:nvPr/>
        </p:nvSpPr>
        <p:spPr>
          <a:xfrm>
            <a:off x="6089904" y="4251960"/>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PETG+TPU</a:t>
            </a:r>
            <a:endParaRPr lang="en-US" sz="1800" dirty="0"/>
          </a:p>
        </p:txBody>
      </p:sp>
      <p:sp>
        <p:nvSpPr>
          <p:cNvPr id="20" name="Text 17"/>
          <p:cNvSpPr/>
          <p:nvPr/>
        </p:nvSpPr>
        <p:spPr>
          <a:xfrm>
            <a:off x="6089904" y="4608576"/>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MATERIALS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457200" cy="457200"/>
          </a:xfrm>
          <a:prstGeom prst="ellipse">
            <a:avLst/>
          </a:prstGeom>
          <a:solidFill>
            <a:srgbClr val="6C4CC4"/>
          </a:solidFill>
          <a:ln/>
        </p:spPr>
        <p:txBody>
          <a:bodyPr/>
          <a:p/>
        </p:txBody>
      </p:sp>
      <p:sp>
        <p:nvSpPr>
          <p:cNvPr id="3" name="Text 1"/>
          <p:cNvSpPr/>
          <p:nvPr/>
        </p:nvSpPr>
        <p:spPr>
          <a:xfrm>
            <a:off x="457200" y="3657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4" name="Text 2"/>
          <p:cNvSpPr/>
          <p:nvPr/>
        </p:nvSpPr>
        <p:spPr>
          <a:xfrm>
            <a:off x="1051560" y="365760"/>
            <a:ext cx="7589520" cy="457200"/>
          </a:xfrm>
          <a:prstGeom prst="rect">
            <a:avLst/>
          </a:prstGeom>
          <a:noFill/>
          <a:ln/>
        </p:spPr>
        <p:txBody>
          <a:bodyPr wrap="square" lIns="0" tIns="0" rIns="0" bIns="0" rtlCol="0" anchor="ctr"/>
          <a:lstStyle/>
          <a:p>
            <a:pPr indent="0" marL="0">
              <a:buNone/>
            </a:pPr>
            <a:r>
              <a:rPr lang="en-US" sz="1250" b="1" spc="200" kern="0" dirty="0">
                <a:solidFill>
                  <a:srgbClr val="6C4CC4"/>
                </a:solidFill>
                <a:latin typeface="Calibri" pitchFamily="34" charset="0"/>
                <a:ea typeface="Calibri" pitchFamily="34" charset="-122"/>
                <a:cs typeface="Calibri" pitchFamily="34" charset="-120"/>
              </a:rPr>
              <a:t>SENSING &amp; SOFTWARE</a:t>
            </a:r>
            <a:endParaRPr lang="en-US" sz="1250" dirty="0"/>
          </a:p>
        </p:txBody>
      </p:sp>
      <p:sp>
        <p:nvSpPr>
          <p:cNvPr id="5" name="Text 3"/>
          <p:cNvSpPr/>
          <p:nvPr/>
        </p:nvSpPr>
        <p:spPr>
          <a:xfrm>
            <a:off x="457200" y="822960"/>
            <a:ext cx="8229600" cy="502920"/>
          </a:xfrm>
          <a:prstGeom prst="rect">
            <a:avLst/>
          </a:prstGeom>
          <a:noFill/>
          <a:ln/>
        </p:spPr>
        <p:txBody>
          <a:bodyPr wrap="square" rtlCol="0" anchor="ctr"/>
          <a:lstStyle/>
          <a:p>
            <a:pPr indent="0" marL="0">
              <a:buNone/>
            </a:pPr>
            <a:r>
              <a:rPr lang="en-US" sz="2600" b="1" dirty="0">
                <a:solidFill>
                  <a:srgbClr val="13233B"/>
                </a:solidFill>
                <a:latin typeface="Cambria" pitchFamily="34" charset="0"/>
                <a:ea typeface="Cambria" pitchFamily="34" charset="-122"/>
                <a:cs typeface="Cambria" pitchFamily="34" charset="-120"/>
              </a:rPr>
              <a:t>Clean Data from Cheap Sensors</a:t>
            </a:r>
            <a:endParaRPr lang="en-US" sz="2600" dirty="0"/>
          </a:p>
        </p:txBody>
      </p:sp>
      <p:sp>
        <p:nvSpPr>
          <p:cNvPr id="6" name="Text 4"/>
          <p:cNvSpPr/>
          <p:nvPr/>
        </p:nvSpPr>
        <p:spPr>
          <a:xfrm>
            <a:off x="457200" y="1344168"/>
            <a:ext cx="8229600" cy="347472"/>
          </a:xfrm>
          <a:prstGeom prst="rect">
            <a:avLst/>
          </a:prstGeom>
          <a:noFill/>
          <a:ln/>
        </p:spPr>
        <p:txBody>
          <a:bodyPr wrap="square" rtlCol="0" anchor="ctr"/>
          <a:lstStyle/>
          <a:p>
            <a:pPr indent="0" marL="0">
              <a:buNone/>
            </a:pPr>
            <a:r>
              <a:rPr lang="en-US" sz="1350" b="1" i="1" dirty="0">
                <a:solidFill>
                  <a:srgbClr val="6C4CC4"/>
                </a:solidFill>
                <a:latin typeface="Calibri" pitchFamily="34" charset="0"/>
                <a:ea typeface="Calibri" pitchFamily="34" charset="-122"/>
                <a:cs typeface="Calibri" pitchFamily="34" charset="-120"/>
              </a:rPr>
              <a:t>The edge isn't expensive sensors — it's the filtering that turns them into clean data.</a:t>
            </a:r>
            <a:endParaRPr lang="en-US" sz="1350" dirty="0"/>
          </a:p>
        </p:txBody>
      </p:sp>
      <p:sp>
        <p:nvSpPr>
          <p:cNvPr id="7" name="Shape 5"/>
          <p:cNvSpPr/>
          <p:nvPr/>
        </p:nvSpPr>
        <p:spPr>
          <a:xfrm>
            <a:off x="365760" y="1783080"/>
            <a:ext cx="4800600" cy="2240280"/>
          </a:xfrm>
          <a:prstGeom prst="roundRect">
            <a:avLst>
              <a:gd name="adj" fmla="val 2041"/>
            </a:avLst>
          </a:prstGeom>
          <a:solidFill>
            <a:srgbClr val="6C4CC4">
              <a:alpha val="9000"/>
            </a:srgbClr>
          </a:solidFill>
          <a:ln w="12700">
            <a:solidFill>
              <a:srgbClr val="6C4CC4">
                <a:alpha val="45000"/>
              </a:srgbClr>
            </a:solidFill>
            <a:prstDash val="solid"/>
          </a:ln>
        </p:spPr>
        <p:txBody>
          <a:bodyPr/>
          <a:p/>
        </p:txBody>
      </p:sp>
      <p:sp>
        <p:nvSpPr>
          <p:cNvPr id="8" name="Text 6"/>
          <p:cNvSpPr/>
          <p:nvPr/>
        </p:nvSpPr>
        <p:spPr>
          <a:xfrm>
            <a:off x="566928" y="1874520"/>
            <a:ext cx="4434840" cy="2084832"/>
          </a:xfrm>
          <a:prstGeom prst="rect">
            <a:avLst/>
          </a:prstGeom>
          <a:noFill/>
          <a:ln/>
        </p:spPr>
        <p:txBody>
          <a:bodyPr wrap="square" rtlCol="0" anchor="t">
            <a:normAutofit/>
          </a:bodyPr>
          <a:lstStyle/>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16x TSSP58038 ring -&gt; intensity-weighted vector sum (atan2)</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Hysteresis 60/35 + EWMA smoothing -&gt; steady bearing</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Camera + IR fusion reconfirms the bearing &lt; 60 cm</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Line: 4x QTR-MD-05A (18 sensors), 'line' when &gt;= 2 cross</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BNO055 (IMUPLUS) -&gt; 100 Hz heading-hold PID</a:t>
            </a:r>
            <a:endParaRPr lang="en-US" sz="1350" dirty="0"/>
          </a:p>
        </p:txBody>
      </p:sp>
      <p:pic>
        <p:nvPicPr>
          <p:cNvPr id="9" name="Image 0" descr="/sessions/gifted-vigilant-johnson/mnt/outputs/img/ir_pcb.jpg">    </p:cNvPr>
          <p:cNvPicPr>
            <a:picLocks noChangeAspect="1"/>
          </p:cNvPicPr>
          <p:nvPr/>
        </p:nvPicPr>
        <p:blipFill>
          <a:blip r:embed="rId1"/>
          <a:stretch>
            <a:fillRect/>
          </a:stretch>
        </p:blipFill>
        <p:spPr>
          <a:xfrm>
            <a:off x="5626943" y="1783080"/>
            <a:ext cx="2827873" cy="2148840"/>
          </a:xfrm>
          <a:prstGeom prst="rect">
            <a:avLst/>
          </a:prstGeom>
          <a:effectLst>
            <a:outerShdw sx="100000" sy="100000" kx="0" ky="0" algn="bl" rotWithShape="0" blurRad="101600" dist="38100" dir="5400000">
              <a:srgbClr val="555f6b">
                <a:alpha val="35000"/>
              </a:srgbClr>
            </a:outerShdw>
          </a:effectLst>
        </p:spPr>
      </p:pic>
      <p:sp>
        <p:nvSpPr>
          <p:cNvPr id="10" name="Shape 7"/>
          <p:cNvSpPr/>
          <p:nvPr/>
        </p:nvSpPr>
        <p:spPr>
          <a:xfrm>
            <a:off x="5626943" y="1783080"/>
            <a:ext cx="2827873" cy="2148840"/>
          </a:xfrm>
          <a:prstGeom prst="rect">
            <a:avLst/>
          </a:prstGeom>
          <a:ln w="19050">
            <a:solidFill>
              <a:srgbClr val="6C4CC4"/>
            </a:solidFill>
            <a:prstDash val="solid"/>
          </a:ln>
        </p:spPr>
        <p:txBody>
          <a:bodyPr/>
          <a:p/>
        </p:txBody>
      </p:sp>
      <p:sp>
        <p:nvSpPr>
          <p:cNvPr id="11" name="Text 8"/>
          <p:cNvSpPr/>
          <p:nvPr/>
        </p:nvSpPr>
        <p:spPr>
          <a:xfrm>
            <a:off x="5349240" y="3950208"/>
            <a:ext cx="3383280" cy="219456"/>
          </a:xfrm>
          <a:prstGeom prst="rect">
            <a:avLst/>
          </a:prstGeom>
          <a:noFill/>
          <a:ln/>
        </p:spPr>
        <p:txBody>
          <a:bodyPr wrap="square" lIns="0" tIns="0" rIns="0" bIns="0" rtlCol="0" anchor="ctr"/>
          <a:lstStyle/>
          <a:p>
            <a:pPr algn="ctr" indent="0" marL="0">
              <a:buNone/>
            </a:pPr>
            <a:r>
              <a:rPr lang="en-US" sz="950" i="1" dirty="0">
                <a:solidFill>
                  <a:srgbClr val="5C6773"/>
                </a:solidFill>
                <a:latin typeface="Calibri" pitchFamily="34" charset="0"/>
                <a:ea typeface="Calibri" pitchFamily="34" charset="-122"/>
                <a:cs typeface="Calibri" pitchFamily="34" charset="-120"/>
              </a:rPr>
              <a:t>IR ring PCB — 16x TSSP58038, each with its own RC filter</a:t>
            </a:r>
            <a:endParaRPr lang="en-US" sz="950" dirty="0"/>
          </a:p>
        </p:txBody>
      </p:sp>
      <p:sp>
        <p:nvSpPr>
          <p:cNvPr id="12" name="Shape 9"/>
          <p:cNvSpPr/>
          <p:nvPr/>
        </p:nvSpPr>
        <p:spPr>
          <a:xfrm>
            <a:off x="365760" y="4206240"/>
            <a:ext cx="2697480" cy="658368"/>
          </a:xfrm>
          <a:prstGeom prst="roundRect">
            <a:avLst>
              <a:gd name="adj" fmla="val 8333"/>
            </a:avLst>
          </a:prstGeom>
          <a:solidFill>
            <a:srgbClr val="6C4CC4"/>
          </a:solidFill>
          <a:ln/>
          <a:effectLst>
            <a:outerShdw sx="100000" sy="100000" kx="0" ky="0" algn="bl" rotWithShape="0" blurRad="63500" dist="25400" dir="5400000">
              <a:srgbClr val="9AA6B2">
                <a:alpha val="25000"/>
              </a:srgbClr>
            </a:outerShdw>
          </a:effectLst>
        </p:spPr>
        <p:txBody>
          <a:bodyPr/>
          <a:p/>
        </p:txBody>
      </p:sp>
      <p:sp>
        <p:nvSpPr>
          <p:cNvPr id="13" name="Text 10"/>
          <p:cNvSpPr/>
          <p:nvPr/>
        </p:nvSpPr>
        <p:spPr>
          <a:xfrm>
            <a:off x="420624" y="4251960"/>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16</a:t>
            </a:r>
            <a:endParaRPr lang="en-US" sz="1800" dirty="0"/>
          </a:p>
        </p:txBody>
      </p:sp>
      <p:sp>
        <p:nvSpPr>
          <p:cNvPr id="14" name="Text 11"/>
          <p:cNvSpPr/>
          <p:nvPr/>
        </p:nvSpPr>
        <p:spPr>
          <a:xfrm>
            <a:off x="420624" y="4608576"/>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IR RECEIVERS</a:t>
            </a:r>
            <a:endParaRPr lang="en-US" sz="850" dirty="0"/>
          </a:p>
        </p:txBody>
      </p:sp>
      <p:sp>
        <p:nvSpPr>
          <p:cNvPr id="15" name="Shape 12"/>
          <p:cNvSpPr/>
          <p:nvPr/>
        </p:nvSpPr>
        <p:spPr>
          <a:xfrm>
            <a:off x="3200400" y="4206240"/>
            <a:ext cx="2697480" cy="658368"/>
          </a:xfrm>
          <a:prstGeom prst="roundRect">
            <a:avLst>
              <a:gd name="adj" fmla="val 8333"/>
            </a:avLst>
          </a:prstGeom>
          <a:solidFill>
            <a:srgbClr val="6C4CC4"/>
          </a:solidFill>
          <a:ln/>
          <a:effectLst>
            <a:outerShdw sx="100000" sy="100000" kx="0" ky="0" algn="bl" rotWithShape="0" blurRad="63500" dist="25400" dir="5400000">
              <a:srgbClr val="9AA6B2">
                <a:alpha val="25000"/>
              </a:srgbClr>
            </a:outerShdw>
          </a:effectLst>
        </p:spPr>
        <p:txBody>
          <a:bodyPr/>
          <a:p/>
        </p:txBody>
      </p:sp>
      <p:sp>
        <p:nvSpPr>
          <p:cNvPr id="16" name="Text 13"/>
          <p:cNvSpPr/>
          <p:nvPr/>
        </p:nvSpPr>
        <p:spPr>
          <a:xfrm>
            <a:off x="3255264" y="4251960"/>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100 Hz</a:t>
            </a:r>
            <a:endParaRPr lang="en-US" sz="1800" dirty="0"/>
          </a:p>
        </p:txBody>
      </p:sp>
      <p:sp>
        <p:nvSpPr>
          <p:cNvPr id="17" name="Text 14"/>
          <p:cNvSpPr/>
          <p:nvPr/>
        </p:nvSpPr>
        <p:spPr>
          <a:xfrm>
            <a:off x="3255264" y="4608576"/>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HEADING PID</a:t>
            </a:r>
            <a:endParaRPr lang="en-US" sz="850" dirty="0"/>
          </a:p>
        </p:txBody>
      </p:sp>
      <p:sp>
        <p:nvSpPr>
          <p:cNvPr id="18" name="Shape 15"/>
          <p:cNvSpPr/>
          <p:nvPr/>
        </p:nvSpPr>
        <p:spPr>
          <a:xfrm>
            <a:off x="6035040" y="4206240"/>
            <a:ext cx="2697480" cy="658368"/>
          </a:xfrm>
          <a:prstGeom prst="roundRect">
            <a:avLst>
              <a:gd name="adj" fmla="val 8333"/>
            </a:avLst>
          </a:prstGeom>
          <a:solidFill>
            <a:srgbClr val="6C4CC4"/>
          </a:solidFill>
          <a:ln/>
          <a:effectLst>
            <a:outerShdw sx="100000" sy="100000" kx="0" ky="0" algn="bl" rotWithShape="0" blurRad="63500" dist="25400" dir="5400000">
              <a:srgbClr val="9AA6B2">
                <a:alpha val="25000"/>
              </a:srgbClr>
            </a:outerShdw>
          </a:effectLst>
        </p:spPr>
        <p:txBody>
          <a:bodyPr/>
          <a:p/>
        </p:txBody>
      </p:sp>
      <p:sp>
        <p:nvSpPr>
          <p:cNvPr id="19" name="Text 16"/>
          <p:cNvSpPr/>
          <p:nvPr/>
        </p:nvSpPr>
        <p:spPr>
          <a:xfrm>
            <a:off x="6089904" y="4251960"/>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18</a:t>
            </a:r>
            <a:endParaRPr lang="en-US" sz="1800" dirty="0"/>
          </a:p>
        </p:txBody>
      </p:sp>
      <p:sp>
        <p:nvSpPr>
          <p:cNvPr id="20" name="Text 17"/>
          <p:cNvSpPr/>
          <p:nvPr/>
        </p:nvSpPr>
        <p:spPr>
          <a:xfrm>
            <a:off x="6089904" y="4608576"/>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LINE SENSORS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457200" cy="457200"/>
          </a:xfrm>
          <a:prstGeom prst="ellipse">
            <a:avLst/>
          </a:prstGeom>
          <a:solidFill>
            <a:srgbClr val="D64545"/>
          </a:solidFill>
          <a:ln/>
        </p:spPr>
        <p:txBody>
          <a:bodyPr/>
          <a:p/>
        </p:txBody>
      </p:sp>
      <p:sp>
        <p:nvSpPr>
          <p:cNvPr id="3" name="Text 1"/>
          <p:cNvSpPr/>
          <p:nvPr/>
        </p:nvSpPr>
        <p:spPr>
          <a:xfrm>
            <a:off x="457200" y="3657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4" name="Text 2"/>
          <p:cNvSpPr/>
          <p:nvPr/>
        </p:nvSpPr>
        <p:spPr>
          <a:xfrm>
            <a:off x="1051560" y="365760"/>
            <a:ext cx="7589520" cy="457200"/>
          </a:xfrm>
          <a:prstGeom prst="rect">
            <a:avLst/>
          </a:prstGeom>
          <a:noFill/>
          <a:ln/>
        </p:spPr>
        <p:txBody>
          <a:bodyPr wrap="square" lIns="0" tIns="0" rIns="0" bIns="0" rtlCol="0" anchor="ctr"/>
          <a:lstStyle/>
          <a:p>
            <a:pPr indent="0" marL="0">
              <a:buNone/>
            </a:pPr>
            <a:r>
              <a:rPr lang="en-US" sz="1250" b="1" spc="200" kern="0" dirty="0">
                <a:solidFill>
                  <a:srgbClr val="D64545"/>
                </a:solidFill>
                <a:latin typeface="Calibri" pitchFamily="34" charset="0"/>
                <a:ea typeface="Calibri" pitchFamily="34" charset="-122"/>
                <a:cs typeface="Calibri" pitchFamily="34" charset="-120"/>
              </a:rPr>
              <a:t>STRATEGY</a:t>
            </a:r>
            <a:endParaRPr lang="en-US" sz="1250" dirty="0"/>
          </a:p>
        </p:txBody>
      </p:sp>
      <p:sp>
        <p:nvSpPr>
          <p:cNvPr id="5" name="Text 3"/>
          <p:cNvSpPr/>
          <p:nvPr/>
        </p:nvSpPr>
        <p:spPr>
          <a:xfrm>
            <a:off x="457200" y="822960"/>
            <a:ext cx="8229600" cy="502920"/>
          </a:xfrm>
          <a:prstGeom prst="rect">
            <a:avLst/>
          </a:prstGeom>
          <a:noFill/>
          <a:ln/>
        </p:spPr>
        <p:txBody>
          <a:bodyPr wrap="square" rtlCol="0" anchor="ctr"/>
          <a:lstStyle/>
          <a:p>
            <a:pPr indent="0" marL="0">
              <a:buNone/>
            </a:pPr>
            <a:r>
              <a:rPr lang="en-US" sz="2600" b="1" dirty="0">
                <a:solidFill>
                  <a:srgbClr val="13233B"/>
                </a:solidFill>
                <a:latin typeface="Cambria" pitchFamily="34" charset="0"/>
                <a:ea typeface="Cambria" pitchFamily="34" charset="-122"/>
                <a:cs typeface="Cambria" pitchFamily="34" charset="-120"/>
              </a:rPr>
              <a:t>The Goal Is Never Left Open</a:t>
            </a:r>
            <a:endParaRPr lang="en-US" sz="2600" dirty="0"/>
          </a:p>
        </p:txBody>
      </p:sp>
      <p:sp>
        <p:nvSpPr>
          <p:cNvPr id="6" name="Text 4"/>
          <p:cNvSpPr/>
          <p:nvPr/>
        </p:nvSpPr>
        <p:spPr>
          <a:xfrm>
            <a:off x="457200" y="1344168"/>
            <a:ext cx="8229600" cy="347472"/>
          </a:xfrm>
          <a:prstGeom prst="rect">
            <a:avLst/>
          </a:prstGeom>
          <a:noFill/>
          <a:ln/>
        </p:spPr>
        <p:txBody>
          <a:bodyPr wrap="square" rtlCol="0" anchor="ctr">
            <a:normAutofit/>
          </a:bodyPr>
          <a:lstStyle/>
          <a:p>
            <a:pPr indent="0" marL="0">
              <a:buNone/>
            </a:pPr>
            <a:r>
              <a:rPr lang="en-US" sz="1350" b="1" i="1" dirty="0">
                <a:solidFill>
                  <a:srgbClr val="D64545"/>
                </a:solidFill>
                <a:latin typeface="Calibri" pitchFamily="34" charset="0"/>
                <a:ea typeface="Calibri" pitchFamily="34" charset="-122"/>
                <a:cs typeface="Calibri" pitchFamily="34" charset="-120"/>
              </a:rPr>
              <a:t>One robot chases and scores; the other never leaves the goal — and they cover for each other.</a:t>
            </a:r>
            <a:endParaRPr lang="en-US" sz="1350" dirty="0"/>
          </a:p>
        </p:txBody>
      </p:sp>
      <p:sp>
        <p:nvSpPr>
          <p:cNvPr id="7" name="Shape 5"/>
          <p:cNvSpPr/>
          <p:nvPr/>
        </p:nvSpPr>
        <p:spPr>
          <a:xfrm>
            <a:off x="365760" y="1783080"/>
            <a:ext cx="4800600" cy="2240280"/>
          </a:xfrm>
          <a:prstGeom prst="roundRect">
            <a:avLst>
              <a:gd name="adj" fmla="val 2041"/>
            </a:avLst>
          </a:prstGeom>
          <a:solidFill>
            <a:srgbClr val="D64545">
              <a:alpha val="9000"/>
            </a:srgbClr>
          </a:solidFill>
          <a:ln w="12700">
            <a:solidFill>
              <a:srgbClr val="D64545">
                <a:alpha val="45000"/>
              </a:srgbClr>
            </a:solidFill>
            <a:prstDash val="solid"/>
          </a:ln>
        </p:spPr>
        <p:txBody>
          <a:bodyPr/>
          <a:p/>
        </p:txBody>
      </p:sp>
      <p:sp>
        <p:nvSpPr>
          <p:cNvPr id="8" name="Text 6"/>
          <p:cNvSpPr/>
          <p:nvPr/>
        </p:nvSpPr>
        <p:spPr>
          <a:xfrm>
            <a:off x="566928" y="1874520"/>
            <a:ext cx="4434840" cy="2084832"/>
          </a:xfrm>
          <a:prstGeom prst="rect">
            <a:avLst/>
          </a:prstGeom>
          <a:noFill/>
          <a:ln/>
        </p:spPr>
        <p:txBody>
          <a:bodyPr wrap="square" rtlCol="0" anchor="t">
            <a:normAutofit/>
          </a:bodyPr>
          <a:lstStyle/>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Attacker: drive straight at ball (speed 250), gyro holds heading</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On capture (&lt; 45 mm): spin to open corner within 5°, fire</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Defender: lateral PID stays between ball &amp; goal</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GUARD -&gt; TRACK -&gt; CLEAR -&gt; RECOVER; back-wall &lt; 90 mm safety</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Auto role-switch over 2.4 GHz if a robot is removed</a:t>
            </a:r>
            <a:endParaRPr lang="en-US" sz="1350" dirty="0"/>
          </a:p>
        </p:txBody>
      </p:sp>
      <p:pic>
        <p:nvPicPr>
          <p:cNvPr id="9" name="Image 0" descr="/sessions/gifted-vigilant-johnson/mnt/outputs/img/diagram_strategy.png">    </p:cNvPr>
          <p:cNvPicPr>
            <a:picLocks noChangeAspect="1"/>
          </p:cNvPicPr>
          <p:nvPr/>
        </p:nvPicPr>
        <p:blipFill>
          <a:blip r:embed="rId1"/>
          <a:stretch>
            <a:fillRect/>
          </a:stretch>
        </p:blipFill>
        <p:spPr>
          <a:xfrm>
            <a:off x="5349240" y="1800225"/>
            <a:ext cx="3383280" cy="2114550"/>
          </a:xfrm>
          <a:prstGeom prst="rect">
            <a:avLst/>
          </a:prstGeom>
          <a:effectLst>
            <a:outerShdw sx="100000" sy="100000" kx="0" ky="0" algn="bl" rotWithShape="0" blurRad="101600" dist="38100" dir="5400000">
              <a:srgbClr val="555f6b">
                <a:alpha val="35000"/>
              </a:srgbClr>
            </a:outerShdw>
          </a:effectLst>
        </p:spPr>
      </p:pic>
      <p:sp>
        <p:nvSpPr>
          <p:cNvPr id="10" name="Shape 7"/>
          <p:cNvSpPr/>
          <p:nvPr/>
        </p:nvSpPr>
        <p:spPr>
          <a:xfrm>
            <a:off x="5349240" y="1800225"/>
            <a:ext cx="3383280" cy="2114550"/>
          </a:xfrm>
          <a:prstGeom prst="rect">
            <a:avLst/>
          </a:prstGeom>
          <a:ln w="19050">
            <a:solidFill>
              <a:srgbClr val="D64545"/>
            </a:solidFill>
            <a:prstDash val="solid"/>
          </a:ln>
        </p:spPr>
        <p:txBody>
          <a:bodyPr/>
          <a:p/>
        </p:txBody>
      </p:sp>
      <p:sp>
        <p:nvSpPr>
          <p:cNvPr id="11" name="Text 8"/>
          <p:cNvSpPr/>
          <p:nvPr/>
        </p:nvSpPr>
        <p:spPr>
          <a:xfrm>
            <a:off x="5349240" y="3950208"/>
            <a:ext cx="3383280" cy="219456"/>
          </a:xfrm>
          <a:prstGeom prst="rect">
            <a:avLst/>
          </a:prstGeom>
          <a:noFill/>
          <a:ln/>
        </p:spPr>
        <p:txBody>
          <a:bodyPr wrap="square" lIns="0" tIns="0" rIns="0" bIns="0" rtlCol="0" anchor="ctr"/>
          <a:lstStyle/>
          <a:p>
            <a:pPr algn="ctr" indent="0" marL="0">
              <a:buNone/>
            </a:pPr>
            <a:r>
              <a:rPr lang="en-US" sz="950" i="1" dirty="0">
                <a:solidFill>
                  <a:srgbClr val="5C6773"/>
                </a:solidFill>
                <a:latin typeface="Calibri" pitchFamily="34" charset="0"/>
                <a:ea typeface="Calibri" pitchFamily="34" charset="-122"/>
                <a:cs typeface="Calibri" pitchFamily="34" charset="-120"/>
              </a:rPr>
              <a:t>Attacker chases &amp; scores; defender holds the ball–goal line</a:t>
            </a:r>
            <a:endParaRPr lang="en-US" sz="950" dirty="0"/>
          </a:p>
        </p:txBody>
      </p:sp>
      <p:sp>
        <p:nvSpPr>
          <p:cNvPr id="12" name="Shape 9"/>
          <p:cNvSpPr/>
          <p:nvPr/>
        </p:nvSpPr>
        <p:spPr>
          <a:xfrm>
            <a:off x="365760" y="4206240"/>
            <a:ext cx="2697480" cy="658368"/>
          </a:xfrm>
          <a:prstGeom prst="roundRect">
            <a:avLst>
              <a:gd name="adj" fmla="val 8333"/>
            </a:avLst>
          </a:prstGeom>
          <a:solidFill>
            <a:srgbClr val="D64545"/>
          </a:solidFill>
          <a:ln/>
          <a:effectLst>
            <a:outerShdw sx="100000" sy="100000" kx="0" ky="0" algn="bl" rotWithShape="0" blurRad="63500" dist="25400" dir="5400000">
              <a:srgbClr val="9AA6B2">
                <a:alpha val="25000"/>
              </a:srgbClr>
            </a:outerShdw>
          </a:effectLst>
        </p:spPr>
        <p:txBody>
          <a:bodyPr/>
          <a:p/>
        </p:txBody>
      </p:sp>
      <p:sp>
        <p:nvSpPr>
          <p:cNvPr id="13" name="Text 10"/>
          <p:cNvSpPr/>
          <p:nvPr/>
        </p:nvSpPr>
        <p:spPr>
          <a:xfrm>
            <a:off x="420624" y="4251960"/>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250</a:t>
            </a:r>
            <a:endParaRPr lang="en-US" sz="1800" dirty="0"/>
          </a:p>
        </p:txBody>
      </p:sp>
      <p:sp>
        <p:nvSpPr>
          <p:cNvPr id="14" name="Text 11"/>
          <p:cNvSpPr/>
          <p:nvPr/>
        </p:nvSpPr>
        <p:spPr>
          <a:xfrm>
            <a:off x="420624" y="4608576"/>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DRIVE SPEED</a:t>
            </a:r>
            <a:endParaRPr lang="en-US" sz="850" dirty="0"/>
          </a:p>
        </p:txBody>
      </p:sp>
      <p:sp>
        <p:nvSpPr>
          <p:cNvPr id="15" name="Shape 12"/>
          <p:cNvSpPr/>
          <p:nvPr/>
        </p:nvSpPr>
        <p:spPr>
          <a:xfrm>
            <a:off x="3200400" y="4206240"/>
            <a:ext cx="2697480" cy="658368"/>
          </a:xfrm>
          <a:prstGeom prst="roundRect">
            <a:avLst>
              <a:gd name="adj" fmla="val 8333"/>
            </a:avLst>
          </a:prstGeom>
          <a:solidFill>
            <a:srgbClr val="D64545"/>
          </a:solidFill>
          <a:ln/>
          <a:effectLst>
            <a:outerShdw sx="100000" sy="100000" kx="0" ky="0" algn="bl" rotWithShape="0" blurRad="63500" dist="25400" dir="5400000">
              <a:srgbClr val="9AA6B2">
                <a:alpha val="25000"/>
              </a:srgbClr>
            </a:outerShdw>
          </a:effectLst>
        </p:spPr>
        <p:txBody>
          <a:bodyPr/>
          <a:p/>
        </p:txBody>
      </p:sp>
      <p:sp>
        <p:nvSpPr>
          <p:cNvPr id="16" name="Text 13"/>
          <p:cNvSpPr/>
          <p:nvPr/>
        </p:nvSpPr>
        <p:spPr>
          <a:xfrm>
            <a:off x="3255264" y="4251960"/>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7" name="Text 14"/>
          <p:cNvSpPr/>
          <p:nvPr/>
        </p:nvSpPr>
        <p:spPr>
          <a:xfrm>
            <a:off x="3255264" y="4608576"/>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AIM WINDOW</a:t>
            </a:r>
            <a:endParaRPr lang="en-US" sz="850" dirty="0"/>
          </a:p>
        </p:txBody>
      </p:sp>
      <p:sp>
        <p:nvSpPr>
          <p:cNvPr id="18" name="Shape 15"/>
          <p:cNvSpPr/>
          <p:nvPr/>
        </p:nvSpPr>
        <p:spPr>
          <a:xfrm>
            <a:off x="6035040" y="4206240"/>
            <a:ext cx="2697480" cy="658368"/>
          </a:xfrm>
          <a:prstGeom prst="roundRect">
            <a:avLst>
              <a:gd name="adj" fmla="val 8333"/>
            </a:avLst>
          </a:prstGeom>
          <a:solidFill>
            <a:srgbClr val="D64545"/>
          </a:solidFill>
          <a:ln/>
          <a:effectLst>
            <a:outerShdw sx="100000" sy="100000" kx="0" ky="0" algn="bl" rotWithShape="0" blurRad="63500" dist="25400" dir="5400000">
              <a:srgbClr val="9AA6B2">
                <a:alpha val="25000"/>
              </a:srgbClr>
            </a:outerShdw>
          </a:effectLst>
        </p:spPr>
        <p:txBody>
          <a:bodyPr/>
          <a:p/>
        </p:txBody>
      </p:sp>
      <p:sp>
        <p:nvSpPr>
          <p:cNvPr id="19" name="Text 16"/>
          <p:cNvSpPr/>
          <p:nvPr/>
        </p:nvSpPr>
        <p:spPr>
          <a:xfrm>
            <a:off x="6089904" y="4251960"/>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2.4 GHz</a:t>
            </a:r>
            <a:endParaRPr lang="en-US" sz="1800" dirty="0"/>
          </a:p>
        </p:txBody>
      </p:sp>
      <p:sp>
        <p:nvSpPr>
          <p:cNvPr id="20" name="Text 17"/>
          <p:cNvSpPr/>
          <p:nvPr/>
        </p:nvSpPr>
        <p:spPr>
          <a:xfrm>
            <a:off x="6089904" y="4608576"/>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ROLE-SWITCH</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457200" cy="457200"/>
          </a:xfrm>
          <a:prstGeom prst="ellipse">
            <a:avLst/>
          </a:prstGeom>
          <a:solidFill>
            <a:srgbClr val="0E9BA6"/>
          </a:solidFill>
          <a:ln/>
        </p:spPr>
        <p:txBody>
          <a:bodyPr/>
          <a:p/>
        </p:txBody>
      </p:sp>
      <p:sp>
        <p:nvSpPr>
          <p:cNvPr id="3" name="Text 1"/>
          <p:cNvSpPr/>
          <p:nvPr/>
        </p:nvSpPr>
        <p:spPr>
          <a:xfrm>
            <a:off x="457200" y="3657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4" name="Text 2"/>
          <p:cNvSpPr/>
          <p:nvPr/>
        </p:nvSpPr>
        <p:spPr>
          <a:xfrm>
            <a:off x="1051560" y="365760"/>
            <a:ext cx="7589520" cy="457200"/>
          </a:xfrm>
          <a:prstGeom prst="rect">
            <a:avLst/>
          </a:prstGeom>
          <a:noFill/>
          <a:ln/>
        </p:spPr>
        <p:txBody>
          <a:bodyPr wrap="square" lIns="0" tIns="0" rIns="0" bIns="0" rtlCol="0" anchor="ctr"/>
          <a:lstStyle/>
          <a:p>
            <a:pPr indent="0" marL="0">
              <a:buNone/>
            </a:pPr>
            <a:r>
              <a:rPr lang="en-US" sz="1250" b="1" spc="200" kern="0" dirty="0">
                <a:solidFill>
                  <a:srgbClr val="0E9BA6"/>
                </a:solidFill>
                <a:latin typeface="Calibri" pitchFamily="34" charset="0"/>
                <a:ea typeface="Calibri" pitchFamily="34" charset="-122"/>
                <a:cs typeface="Calibri" pitchFamily="34" charset="-120"/>
              </a:rPr>
              <a:t>DATA · TESTING → MODIFICATION</a:t>
            </a:r>
            <a:endParaRPr lang="en-US" sz="1250" dirty="0"/>
          </a:p>
        </p:txBody>
      </p:sp>
      <p:sp>
        <p:nvSpPr>
          <p:cNvPr id="5" name="Text 3"/>
          <p:cNvSpPr/>
          <p:nvPr/>
        </p:nvSpPr>
        <p:spPr>
          <a:xfrm>
            <a:off x="457200" y="822960"/>
            <a:ext cx="8229600" cy="502920"/>
          </a:xfrm>
          <a:prstGeom prst="rect">
            <a:avLst/>
          </a:prstGeom>
          <a:noFill/>
          <a:ln/>
        </p:spPr>
        <p:txBody>
          <a:bodyPr wrap="square" rtlCol="0" anchor="ctr"/>
          <a:lstStyle/>
          <a:p>
            <a:pPr indent="0" marL="0">
              <a:buNone/>
            </a:pPr>
            <a:r>
              <a:rPr lang="en-US" sz="2600" b="1" dirty="0">
                <a:solidFill>
                  <a:srgbClr val="13233B"/>
                </a:solidFill>
                <a:latin typeface="Cambria" pitchFamily="34" charset="0"/>
                <a:ea typeface="Cambria" pitchFamily="34" charset="-122"/>
                <a:cs typeface="Cambria" pitchFamily="34" charset="-120"/>
              </a:rPr>
              <a:t>Every Fix Came From a Failure</a:t>
            </a:r>
            <a:endParaRPr lang="en-US" sz="2600" dirty="0"/>
          </a:p>
        </p:txBody>
      </p:sp>
      <p:sp>
        <p:nvSpPr>
          <p:cNvPr id="6" name="Text 4"/>
          <p:cNvSpPr/>
          <p:nvPr/>
        </p:nvSpPr>
        <p:spPr>
          <a:xfrm>
            <a:off x="457200" y="1325880"/>
            <a:ext cx="8229600" cy="320040"/>
          </a:xfrm>
          <a:prstGeom prst="rect">
            <a:avLst/>
          </a:prstGeom>
          <a:noFill/>
          <a:ln/>
        </p:spPr>
        <p:txBody>
          <a:bodyPr wrap="square" rtlCol="0" anchor="ctr"/>
          <a:lstStyle/>
          <a:p>
            <a:pPr indent="0" marL="0">
              <a:buNone/>
            </a:pPr>
            <a:r>
              <a:rPr lang="en-US" sz="1350" b="1" i="1" dirty="0">
                <a:solidFill>
                  <a:srgbClr val="0E9BA6"/>
                </a:solidFill>
                <a:latin typeface="Calibri" pitchFamily="34" charset="0"/>
                <a:ea typeface="Calibri" pitchFamily="34" charset="-122"/>
                <a:cs typeface="Calibri" pitchFamily="34" charset="-120"/>
              </a:rPr>
              <a:t>Each change below was forced by a measured failure on the field.</a:t>
            </a:r>
            <a:endParaRPr lang="en-US" sz="1350" dirty="0"/>
          </a:p>
        </p:txBody>
      </p:sp>
      <p:pic>
        <p:nvPicPr>
          <p:cNvPr id="7" name="Image 0" descr="/sessions/gifted-vigilant-johnson/mnt/outputs/img/chart_stall.png">    </p:cNvPr>
          <p:cNvPicPr>
            <a:picLocks noChangeAspect="1"/>
          </p:cNvPicPr>
          <p:nvPr/>
        </p:nvPicPr>
        <p:blipFill>
          <a:blip r:embed="rId1"/>
          <a:stretch>
            <a:fillRect/>
          </a:stretch>
        </p:blipFill>
        <p:spPr>
          <a:xfrm>
            <a:off x="812902" y="1737360"/>
            <a:ext cx="3266237" cy="2148840"/>
          </a:xfrm>
          <a:prstGeom prst="rect">
            <a:avLst/>
          </a:prstGeom>
          <a:effectLst>
            <a:outerShdw sx="100000" sy="100000" kx="0" ky="0" algn="bl" rotWithShape="0" blurRad="101600" dist="38100" dir="5400000">
              <a:srgbClr val="555f6b">
                <a:alpha val="35000"/>
              </a:srgbClr>
            </a:outerShdw>
          </a:effectLst>
        </p:spPr>
      </p:pic>
      <p:sp>
        <p:nvSpPr>
          <p:cNvPr id="8" name="Shape 5"/>
          <p:cNvSpPr/>
          <p:nvPr/>
        </p:nvSpPr>
        <p:spPr>
          <a:xfrm>
            <a:off x="812902" y="1737360"/>
            <a:ext cx="3266237" cy="2148840"/>
          </a:xfrm>
          <a:prstGeom prst="rect">
            <a:avLst/>
          </a:prstGeom>
          <a:ln w="19050">
            <a:solidFill>
              <a:srgbClr val="0E9BA6"/>
            </a:solidFill>
            <a:prstDash val="solid"/>
          </a:ln>
        </p:spPr>
        <p:txBody>
          <a:bodyPr/>
          <a:p/>
        </p:txBody>
      </p:sp>
      <p:sp>
        <p:nvSpPr>
          <p:cNvPr id="9" name="Text 6"/>
          <p:cNvSpPr/>
          <p:nvPr/>
        </p:nvSpPr>
        <p:spPr>
          <a:xfrm>
            <a:off x="274320" y="3904488"/>
            <a:ext cx="4343400" cy="219456"/>
          </a:xfrm>
          <a:prstGeom prst="rect">
            <a:avLst/>
          </a:prstGeom>
          <a:noFill/>
          <a:ln/>
        </p:spPr>
        <p:txBody>
          <a:bodyPr wrap="square" lIns="0" tIns="0" rIns="0" bIns="0" rtlCol="0" anchor="ctr"/>
          <a:lstStyle/>
          <a:p>
            <a:pPr algn="ctr" indent="0" marL="0">
              <a:buNone/>
            </a:pPr>
            <a:r>
              <a:rPr lang="en-US" sz="950" i="1" dirty="0">
                <a:solidFill>
                  <a:srgbClr val="5C6773"/>
                </a:solidFill>
                <a:latin typeface="Calibri" pitchFamily="34" charset="0"/>
                <a:ea typeface="Calibri" pitchFamily="34" charset="-122"/>
                <a:cs typeface="Calibri" pitchFamily="34" charset="-120"/>
              </a:rPr>
              <a:t>Overheating → external Nano caps current at ~1 A (stall 1.6 A)</a:t>
            </a:r>
            <a:endParaRPr lang="en-US" sz="950" dirty="0"/>
          </a:p>
        </p:txBody>
      </p:sp>
      <p:pic>
        <p:nvPicPr>
          <p:cNvPr id="10" name="Image 1" descr="/sessions/gifted-vigilant-johnson/mnt/outputs/img/chart_fusion.png">    </p:cNvPr>
          <p:cNvPicPr>
            <a:picLocks noChangeAspect="1"/>
          </p:cNvPicPr>
          <p:nvPr/>
        </p:nvPicPr>
        <p:blipFill>
          <a:blip r:embed="rId2"/>
          <a:stretch>
            <a:fillRect/>
          </a:stretch>
        </p:blipFill>
        <p:spPr>
          <a:xfrm>
            <a:off x="5110582" y="1737360"/>
            <a:ext cx="3266237" cy="2148840"/>
          </a:xfrm>
          <a:prstGeom prst="rect">
            <a:avLst/>
          </a:prstGeom>
          <a:effectLst>
            <a:outerShdw sx="100000" sy="100000" kx="0" ky="0" algn="bl" rotWithShape="0" blurRad="101600" dist="38100" dir="5400000">
              <a:srgbClr val="555f6b">
                <a:alpha val="35000"/>
              </a:srgbClr>
            </a:outerShdw>
          </a:effectLst>
        </p:spPr>
      </p:pic>
      <p:sp>
        <p:nvSpPr>
          <p:cNvPr id="11" name="Shape 7"/>
          <p:cNvSpPr/>
          <p:nvPr/>
        </p:nvSpPr>
        <p:spPr>
          <a:xfrm>
            <a:off x="5110582" y="1737360"/>
            <a:ext cx="3266237" cy="2148840"/>
          </a:xfrm>
          <a:prstGeom prst="rect">
            <a:avLst/>
          </a:prstGeom>
          <a:ln w="19050">
            <a:solidFill>
              <a:srgbClr val="0E9BA6"/>
            </a:solidFill>
            <a:prstDash val="solid"/>
          </a:ln>
        </p:spPr>
        <p:txBody>
          <a:bodyPr/>
          <a:p/>
        </p:txBody>
      </p:sp>
      <p:sp>
        <p:nvSpPr>
          <p:cNvPr id="12" name="Text 8"/>
          <p:cNvSpPr/>
          <p:nvPr/>
        </p:nvSpPr>
        <p:spPr>
          <a:xfrm>
            <a:off x="4572000" y="3904488"/>
            <a:ext cx="4343400" cy="219456"/>
          </a:xfrm>
          <a:prstGeom prst="rect">
            <a:avLst/>
          </a:prstGeom>
          <a:noFill/>
          <a:ln/>
        </p:spPr>
        <p:txBody>
          <a:bodyPr wrap="square" lIns="0" tIns="0" rIns="0" bIns="0" rtlCol="0" anchor="ctr"/>
          <a:lstStyle/>
          <a:p>
            <a:pPr algn="ctr" indent="0" marL="0">
              <a:buNone/>
            </a:pPr>
            <a:r>
              <a:rPr lang="en-US" sz="950" i="1" dirty="0">
                <a:solidFill>
                  <a:srgbClr val="5C6773"/>
                </a:solidFill>
                <a:latin typeface="Calibri" pitchFamily="34" charset="0"/>
                <a:ea typeface="Calibri" pitchFamily="34" charset="-122"/>
                <a:cs typeface="Calibri" pitchFamily="34" charset="-120"/>
              </a:rPr>
              <a:t>IR lost the ball &lt; 60 cm → camera fusion holds bearing error low</a:t>
            </a:r>
            <a:endParaRPr lang="en-US" sz="950" dirty="0"/>
          </a:p>
        </p:txBody>
      </p:sp>
      <p:sp>
        <p:nvSpPr>
          <p:cNvPr id="13" name="Shape 9"/>
          <p:cNvSpPr/>
          <p:nvPr/>
        </p:nvSpPr>
        <p:spPr>
          <a:xfrm>
            <a:off x="365760" y="4224528"/>
            <a:ext cx="2697480" cy="658368"/>
          </a:xfrm>
          <a:prstGeom prst="roundRect">
            <a:avLst>
              <a:gd name="adj" fmla="val 8333"/>
            </a:avLst>
          </a:prstGeom>
          <a:solidFill>
            <a:srgbClr val="0E9BA6"/>
          </a:solidFill>
          <a:ln/>
          <a:effectLst>
            <a:outerShdw sx="100000" sy="100000" kx="0" ky="0" algn="bl" rotWithShape="0" blurRad="63500" dist="25400" dir="5400000">
              <a:srgbClr val="9AA6B2">
                <a:alpha val="25000"/>
              </a:srgbClr>
            </a:outerShdw>
          </a:effectLst>
        </p:spPr>
        <p:txBody>
          <a:bodyPr/>
          <a:p/>
        </p:txBody>
      </p:sp>
      <p:sp>
        <p:nvSpPr>
          <p:cNvPr id="14" name="Text 10"/>
          <p:cNvSpPr/>
          <p:nvPr/>
        </p:nvSpPr>
        <p:spPr>
          <a:xfrm>
            <a:off x="420624" y="4270248"/>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 A</a:t>
            </a:r>
            <a:endParaRPr lang="en-US" sz="1800" dirty="0"/>
          </a:p>
        </p:txBody>
      </p:sp>
      <p:sp>
        <p:nvSpPr>
          <p:cNvPr id="15" name="Text 11"/>
          <p:cNvSpPr/>
          <p:nvPr/>
        </p:nvSpPr>
        <p:spPr>
          <a:xfrm>
            <a:off x="420624" y="4626864"/>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CURRENT CAP (was ~5 A)</a:t>
            </a:r>
            <a:endParaRPr lang="en-US" sz="850" dirty="0"/>
          </a:p>
        </p:txBody>
      </p:sp>
      <p:sp>
        <p:nvSpPr>
          <p:cNvPr id="16" name="Shape 12"/>
          <p:cNvSpPr/>
          <p:nvPr/>
        </p:nvSpPr>
        <p:spPr>
          <a:xfrm>
            <a:off x="3200400" y="4224528"/>
            <a:ext cx="2697480" cy="658368"/>
          </a:xfrm>
          <a:prstGeom prst="roundRect">
            <a:avLst>
              <a:gd name="adj" fmla="val 8333"/>
            </a:avLst>
          </a:prstGeom>
          <a:solidFill>
            <a:srgbClr val="0E9BA6"/>
          </a:solidFill>
          <a:ln/>
          <a:effectLst>
            <a:outerShdw sx="100000" sy="100000" kx="0" ky="0" algn="bl" rotWithShape="0" blurRad="63500" dist="25400" dir="5400000">
              <a:srgbClr val="9AA6B2">
                <a:alpha val="25000"/>
              </a:srgbClr>
            </a:outerShdw>
          </a:effectLst>
        </p:spPr>
        <p:txBody>
          <a:bodyPr/>
          <a:p/>
        </p:txBody>
      </p:sp>
      <p:sp>
        <p:nvSpPr>
          <p:cNvPr id="17" name="Text 13"/>
          <p:cNvSpPr/>
          <p:nvPr/>
        </p:nvSpPr>
        <p:spPr>
          <a:xfrm>
            <a:off x="3255264" y="4270248"/>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&lt; 60 cm</a:t>
            </a:r>
            <a:endParaRPr lang="en-US" sz="1800" dirty="0"/>
          </a:p>
        </p:txBody>
      </p:sp>
      <p:sp>
        <p:nvSpPr>
          <p:cNvPr id="18" name="Text 14"/>
          <p:cNvSpPr/>
          <p:nvPr/>
        </p:nvSpPr>
        <p:spPr>
          <a:xfrm>
            <a:off x="3255264" y="4626864"/>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FUSION FIXES IR</a:t>
            </a:r>
            <a:endParaRPr lang="en-US" sz="850" dirty="0"/>
          </a:p>
        </p:txBody>
      </p:sp>
      <p:sp>
        <p:nvSpPr>
          <p:cNvPr id="19" name="Shape 15"/>
          <p:cNvSpPr/>
          <p:nvPr/>
        </p:nvSpPr>
        <p:spPr>
          <a:xfrm>
            <a:off x="6035040" y="4224528"/>
            <a:ext cx="2697480" cy="658368"/>
          </a:xfrm>
          <a:prstGeom prst="roundRect">
            <a:avLst>
              <a:gd name="adj" fmla="val 8333"/>
            </a:avLst>
          </a:prstGeom>
          <a:solidFill>
            <a:srgbClr val="0E9BA6"/>
          </a:solidFill>
          <a:ln/>
          <a:effectLst>
            <a:outerShdw sx="100000" sy="100000" kx="0" ky="0" algn="bl" rotWithShape="0" blurRad="63500" dist="25400" dir="5400000">
              <a:srgbClr val="9AA6B2">
                <a:alpha val="25000"/>
              </a:srgbClr>
            </a:outerShdw>
          </a:effectLst>
        </p:spPr>
        <p:txBody>
          <a:bodyPr/>
          <a:p/>
        </p:txBody>
      </p:sp>
      <p:sp>
        <p:nvSpPr>
          <p:cNvPr id="20" name="Text 16"/>
          <p:cNvSpPr/>
          <p:nvPr/>
        </p:nvSpPr>
        <p:spPr>
          <a:xfrm>
            <a:off x="6089904" y="4270248"/>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Text 17"/>
          <p:cNvSpPr/>
          <p:nvPr/>
        </p:nvSpPr>
        <p:spPr>
          <a:xfrm>
            <a:off x="6089904" y="4626864"/>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FIELD FIXES SHIPPED</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457200" cy="457200"/>
          </a:xfrm>
          <a:prstGeom prst="ellipse">
            <a:avLst/>
          </a:prstGeom>
          <a:solidFill>
            <a:srgbClr val="2F6FB0"/>
          </a:solidFill>
          <a:ln/>
        </p:spPr>
        <p:txBody>
          <a:bodyPr/>
          <a:p/>
        </p:txBody>
      </p:sp>
      <p:sp>
        <p:nvSpPr>
          <p:cNvPr id="3" name="Text 1"/>
          <p:cNvSpPr/>
          <p:nvPr/>
        </p:nvSpPr>
        <p:spPr>
          <a:xfrm>
            <a:off x="457200" y="3657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9</a:t>
            </a:r>
            <a:endParaRPr lang="en-US" sz="1800" dirty="0"/>
          </a:p>
        </p:txBody>
      </p:sp>
      <p:sp>
        <p:nvSpPr>
          <p:cNvPr id="4" name="Text 2"/>
          <p:cNvSpPr/>
          <p:nvPr/>
        </p:nvSpPr>
        <p:spPr>
          <a:xfrm>
            <a:off x="1051560" y="365760"/>
            <a:ext cx="7589520" cy="457200"/>
          </a:xfrm>
          <a:prstGeom prst="rect">
            <a:avLst/>
          </a:prstGeom>
          <a:noFill/>
          <a:ln/>
        </p:spPr>
        <p:txBody>
          <a:bodyPr wrap="square" lIns="0" tIns="0" rIns="0" bIns="0" rtlCol="0" anchor="ctr"/>
          <a:lstStyle/>
          <a:p>
            <a:pPr indent="0" marL="0">
              <a:buNone/>
            </a:pPr>
            <a:r>
              <a:rPr lang="en-US" sz="1250" b="1" spc="200" kern="0" dirty="0">
                <a:solidFill>
                  <a:srgbClr val="2F6FB0"/>
                </a:solidFill>
                <a:latin typeface="Calibri" pitchFamily="34" charset="0"/>
                <a:ea typeface="Calibri" pitchFamily="34" charset="-122"/>
                <a:cs typeface="Calibri" pitchFamily="34" charset="-120"/>
              </a:rPr>
              <a:t>TEAMWORK &amp; PROCESS</a:t>
            </a:r>
            <a:endParaRPr lang="en-US" sz="1250" dirty="0"/>
          </a:p>
        </p:txBody>
      </p:sp>
      <p:sp>
        <p:nvSpPr>
          <p:cNvPr id="5" name="Text 3"/>
          <p:cNvSpPr/>
          <p:nvPr/>
        </p:nvSpPr>
        <p:spPr>
          <a:xfrm>
            <a:off x="457200" y="822960"/>
            <a:ext cx="8229600" cy="502920"/>
          </a:xfrm>
          <a:prstGeom prst="rect">
            <a:avLst/>
          </a:prstGeom>
          <a:noFill/>
          <a:ln/>
        </p:spPr>
        <p:txBody>
          <a:bodyPr wrap="square" rtlCol="0" anchor="ctr"/>
          <a:lstStyle/>
          <a:p>
            <a:pPr indent="0" marL="0">
              <a:buNone/>
            </a:pPr>
            <a:r>
              <a:rPr lang="en-US" sz="2600" b="1" dirty="0">
                <a:solidFill>
                  <a:srgbClr val="13233B"/>
                </a:solidFill>
                <a:latin typeface="Cambria" pitchFamily="34" charset="0"/>
                <a:ea typeface="Cambria" pitchFamily="34" charset="-122"/>
                <a:cs typeface="Cambria" pitchFamily="34" charset="-120"/>
              </a:rPr>
              <a:t>How We Work: Roles, Tools &amp; Iteration</a:t>
            </a:r>
            <a:endParaRPr lang="en-US" sz="2600" dirty="0"/>
          </a:p>
        </p:txBody>
      </p:sp>
      <p:sp>
        <p:nvSpPr>
          <p:cNvPr id="6" name="Text 4"/>
          <p:cNvSpPr/>
          <p:nvPr/>
        </p:nvSpPr>
        <p:spPr>
          <a:xfrm>
            <a:off x="457200" y="1344168"/>
            <a:ext cx="8229600" cy="347472"/>
          </a:xfrm>
          <a:prstGeom prst="rect">
            <a:avLst/>
          </a:prstGeom>
          <a:noFill/>
          <a:ln/>
        </p:spPr>
        <p:txBody>
          <a:bodyPr wrap="square" rtlCol="0" anchor="ctr"/>
          <a:lstStyle/>
          <a:p>
            <a:pPr indent="0" marL="0">
              <a:buNone/>
            </a:pPr>
            <a:r>
              <a:rPr lang="en-US" sz="1350" b="1" i="1" dirty="0">
                <a:solidFill>
                  <a:srgbClr val="2F6FB0"/>
                </a:solidFill>
                <a:latin typeface="Calibri" pitchFamily="34" charset="0"/>
                <a:ea typeface="Calibri" pitchFamily="34" charset="-122"/>
                <a:cs typeface="Calibri" pitchFamily="34" charset="-120"/>
              </a:rPr>
              <a:t>A two-person team with clear ownership, tracked tasks, and a five-month build.</a:t>
            </a:r>
            <a:endParaRPr lang="en-US" sz="1350" dirty="0"/>
          </a:p>
        </p:txBody>
      </p:sp>
      <p:sp>
        <p:nvSpPr>
          <p:cNvPr id="7" name="Shape 5"/>
          <p:cNvSpPr/>
          <p:nvPr/>
        </p:nvSpPr>
        <p:spPr>
          <a:xfrm>
            <a:off x="365760" y="1783080"/>
            <a:ext cx="4800600" cy="2240280"/>
          </a:xfrm>
          <a:prstGeom prst="roundRect">
            <a:avLst>
              <a:gd name="adj" fmla="val 2041"/>
            </a:avLst>
          </a:prstGeom>
          <a:solidFill>
            <a:srgbClr val="2F6FB0">
              <a:alpha val="9000"/>
            </a:srgbClr>
          </a:solidFill>
          <a:ln w="12700">
            <a:solidFill>
              <a:srgbClr val="2F6FB0">
                <a:alpha val="45000"/>
              </a:srgbClr>
            </a:solidFill>
            <a:prstDash val="solid"/>
          </a:ln>
        </p:spPr>
        <p:txBody>
          <a:bodyPr/>
          <a:p/>
        </p:txBody>
      </p:sp>
      <p:sp>
        <p:nvSpPr>
          <p:cNvPr id="8" name="Text 6"/>
          <p:cNvSpPr/>
          <p:nvPr/>
        </p:nvSpPr>
        <p:spPr>
          <a:xfrm>
            <a:off x="566928" y="1874520"/>
            <a:ext cx="4434840" cy="2084832"/>
          </a:xfrm>
          <a:prstGeom prst="rect">
            <a:avLst/>
          </a:prstGeom>
          <a:noFill/>
          <a:ln/>
        </p:spPr>
        <p:txBody>
          <a:bodyPr wrap="square" rtlCol="0" anchor="t">
            <a:normAutofit/>
          </a:bodyPr>
          <a:lstStyle/>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Kushal: electronics, firmware, PCB &amp; CAD · Darsh: mechanical &amp; CAD</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Planned in Notion — every task owned, with a deadline</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Files on Google Drive · code + issues on GitHub · WhatsApp</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Feb-May: 4 hrs/day · 7-27 June: 8-10 hrs/day sprint</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AI-assisted CAD: Fusion 360 MCP for IR beams + 2 PCBs</a:t>
            </a:r>
            <a:endParaRPr lang="en-US" sz="1350" dirty="0"/>
          </a:p>
        </p:txBody>
      </p:sp>
      <p:pic>
        <p:nvPicPr>
          <p:cNvPr id="9" name="Image 0" descr="/sessions/gifted-vigilant-johnson/mnt/outputs/img/wiring.jpg">    </p:cNvPr>
          <p:cNvPicPr>
            <a:picLocks noChangeAspect="1"/>
          </p:cNvPicPr>
          <p:nvPr/>
        </p:nvPicPr>
        <p:blipFill>
          <a:blip r:embed="rId1"/>
          <a:stretch>
            <a:fillRect/>
          </a:stretch>
        </p:blipFill>
        <p:spPr>
          <a:xfrm>
            <a:off x="5608678" y="1783080"/>
            <a:ext cx="2864404" cy="2148840"/>
          </a:xfrm>
          <a:prstGeom prst="rect">
            <a:avLst/>
          </a:prstGeom>
          <a:effectLst>
            <a:outerShdw sx="100000" sy="100000" kx="0" ky="0" algn="bl" rotWithShape="0" blurRad="101600" dist="38100" dir="5400000">
              <a:srgbClr val="555f6b">
                <a:alpha val="35000"/>
              </a:srgbClr>
            </a:outerShdw>
          </a:effectLst>
        </p:spPr>
      </p:pic>
      <p:sp>
        <p:nvSpPr>
          <p:cNvPr id="10" name="Shape 7"/>
          <p:cNvSpPr/>
          <p:nvPr/>
        </p:nvSpPr>
        <p:spPr>
          <a:xfrm>
            <a:off x="5608678" y="1783080"/>
            <a:ext cx="2864404" cy="2148840"/>
          </a:xfrm>
          <a:prstGeom prst="rect">
            <a:avLst/>
          </a:prstGeom>
          <a:ln w="19050">
            <a:solidFill>
              <a:srgbClr val="2F6FB0"/>
            </a:solidFill>
            <a:prstDash val="solid"/>
          </a:ln>
        </p:spPr>
        <p:txBody>
          <a:bodyPr/>
          <a:p/>
        </p:txBody>
      </p:sp>
      <p:sp>
        <p:nvSpPr>
          <p:cNvPr id="11" name="Text 8"/>
          <p:cNvSpPr/>
          <p:nvPr/>
        </p:nvSpPr>
        <p:spPr>
          <a:xfrm>
            <a:off x="5349240" y="3950208"/>
            <a:ext cx="3383280" cy="219456"/>
          </a:xfrm>
          <a:prstGeom prst="rect">
            <a:avLst/>
          </a:prstGeom>
          <a:noFill/>
          <a:ln/>
        </p:spPr>
        <p:txBody>
          <a:bodyPr wrap="square" lIns="0" tIns="0" rIns="0" bIns="0" rtlCol="0" anchor="ctr"/>
          <a:lstStyle/>
          <a:p>
            <a:pPr algn="ctr" indent="0" marL="0">
              <a:buNone/>
            </a:pPr>
            <a:r>
              <a:rPr lang="en-US" sz="950" i="1" dirty="0">
                <a:solidFill>
                  <a:srgbClr val="5C6773"/>
                </a:solidFill>
                <a:latin typeface="Calibri" pitchFamily="34" charset="0"/>
                <a:ea typeface="Calibri" pitchFamily="34" charset="-122"/>
                <a:cs typeface="Calibri" pitchFamily="34" charset="-120"/>
              </a:rPr>
              <a:t>Hands-on: the 5 V / 3.3 V / UART wiring loom</a:t>
            </a:r>
            <a:endParaRPr lang="en-US" sz="950" dirty="0"/>
          </a:p>
        </p:txBody>
      </p:sp>
      <p:sp>
        <p:nvSpPr>
          <p:cNvPr id="12" name="Shape 9"/>
          <p:cNvSpPr/>
          <p:nvPr/>
        </p:nvSpPr>
        <p:spPr>
          <a:xfrm>
            <a:off x="365760" y="4206240"/>
            <a:ext cx="2697480" cy="658368"/>
          </a:xfrm>
          <a:prstGeom prst="roundRect">
            <a:avLst>
              <a:gd name="adj" fmla="val 8333"/>
            </a:avLst>
          </a:prstGeom>
          <a:solidFill>
            <a:srgbClr val="2F6FB0"/>
          </a:solidFill>
          <a:ln/>
          <a:effectLst>
            <a:outerShdw sx="100000" sy="100000" kx="0" ky="0" algn="bl" rotWithShape="0" blurRad="63500" dist="25400" dir="5400000">
              <a:srgbClr val="9AA6B2">
                <a:alpha val="25000"/>
              </a:srgbClr>
            </a:outerShdw>
          </a:effectLst>
        </p:spPr>
        <p:txBody>
          <a:bodyPr/>
          <a:p/>
        </p:txBody>
      </p:sp>
      <p:sp>
        <p:nvSpPr>
          <p:cNvPr id="13" name="Text 10"/>
          <p:cNvSpPr/>
          <p:nvPr/>
        </p:nvSpPr>
        <p:spPr>
          <a:xfrm>
            <a:off x="420624" y="4251960"/>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1"/>
          <p:cNvSpPr/>
          <p:nvPr/>
        </p:nvSpPr>
        <p:spPr>
          <a:xfrm>
            <a:off x="420624" y="4608576"/>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TEAM MEMBERS</a:t>
            </a:r>
            <a:endParaRPr lang="en-US" sz="850" dirty="0"/>
          </a:p>
        </p:txBody>
      </p:sp>
      <p:sp>
        <p:nvSpPr>
          <p:cNvPr id="15" name="Shape 12"/>
          <p:cNvSpPr/>
          <p:nvPr/>
        </p:nvSpPr>
        <p:spPr>
          <a:xfrm>
            <a:off x="3200400" y="4206240"/>
            <a:ext cx="2697480" cy="658368"/>
          </a:xfrm>
          <a:prstGeom prst="roundRect">
            <a:avLst>
              <a:gd name="adj" fmla="val 8333"/>
            </a:avLst>
          </a:prstGeom>
          <a:solidFill>
            <a:srgbClr val="2F6FB0"/>
          </a:solidFill>
          <a:ln/>
          <a:effectLst>
            <a:outerShdw sx="100000" sy="100000" kx="0" ky="0" algn="bl" rotWithShape="0" blurRad="63500" dist="25400" dir="5400000">
              <a:srgbClr val="9AA6B2">
                <a:alpha val="25000"/>
              </a:srgbClr>
            </a:outerShdw>
          </a:effectLst>
        </p:spPr>
        <p:txBody>
          <a:bodyPr/>
          <a:p/>
        </p:txBody>
      </p:sp>
      <p:sp>
        <p:nvSpPr>
          <p:cNvPr id="16" name="Text 13"/>
          <p:cNvSpPr/>
          <p:nvPr/>
        </p:nvSpPr>
        <p:spPr>
          <a:xfrm>
            <a:off x="3255264" y="4251960"/>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 mo</a:t>
            </a:r>
            <a:endParaRPr lang="en-US" sz="1800" dirty="0"/>
          </a:p>
        </p:txBody>
      </p:sp>
      <p:sp>
        <p:nvSpPr>
          <p:cNvPr id="17" name="Text 14"/>
          <p:cNvSpPr/>
          <p:nvPr/>
        </p:nvSpPr>
        <p:spPr>
          <a:xfrm>
            <a:off x="3255264" y="4608576"/>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BUILD TIME</a:t>
            </a:r>
            <a:endParaRPr lang="en-US" sz="850" dirty="0"/>
          </a:p>
        </p:txBody>
      </p:sp>
      <p:sp>
        <p:nvSpPr>
          <p:cNvPr id="18" name="Shape 15"/>
          <p:cNvSpPr/>
          <p:nvPr/>
        </p:nvSpPr>
        <p:spPr>
          <a:xfrm>
            <a:off x="6035040" y="4206240"/>
            <a:ext cx="2697480" cy="658368"/>
          </a:xfrm>
          <a:prstGeom prst="roundRect">
            <a:avLst>
              <a:gd name="adj" fmla="val 8333"/>
            </a:avLst>
          </a:prstGeom>
          <a:solidFill>
            <a:srgbClr val="2F6FB0"/>
          </a:solidFill>
          <a:ln/>
          <a:effectLst>
            <a:outerShdw sx="100000" sy="100000" kx="0" ky="0" algn="bl" rotWithShape="0" blurRad="63500" dist="25400" dir="5400000">
              <a:srgbClr val="9AA6B2">
                <a:alpha val="25000"/>
              </a:srgbClr>
            </a:outerShdw>
          </a:effectLst>
        </p:spPr>
        <p:txBody>
          <a:bodyPr/>
          <a:p/>
        </p:txBody>
      </p:sp>
      <p:sp>
        <p:nvSpPr>
          <p:cNvPr id="19" name="Text 16"/>
          <p:cNvSpPr/>
          <p:nvPr/>
        </p:nvSpPr>
        <p:spPr>
          <a:xfrm>
            <a:off x="6089904" y="4251960"/>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8-10 h</a:t>
            </a:r>
            <a:endParaRPr lang="en-US" sz="1800" dirty="0"/>
          </a:p>
        </p:txBody>
      </p:sp>
      <p:sp>
        <p:nvSpPr>
          <p:cNvPr id="20" name="Text 17"/>
          <p:cNvSpPr/>
          <p:nvPr/>
        </p:nvSpPr>
        <p:spPr>
          <a:xfrm>
            <a:off x="6089904" y="4608576"/>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JUNE / DAY</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457200" cy="457200"/>
          </a:xfrm>
          <a:prstGeom prst="ellipse">
            <a:avLst/>
          </a:prstGeom>
          <a:solidFill>
            <a:srgbClr val="1FA75B"/>
          </a:solidFill>
          <a:ln/>
        </p:spPr>
        <p:txBody>
          <a:bodyPr/>
          <a:p/>
        </p:txBody>
      </p:sp>
      <p:sp>
        <p:nvSpPr>
          <p:cNvPr id="3" name="Text 1"/>
          <p:cNvSpPr/>
          <p:nvPr/>
        </p:nvSpPr>
        <p:spPr>
          <a:xfrm>
            <a:off x="457200" y="3657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10</a:t>
            </a:r>
            <a:endParaRPr lang="en-US" sz="1800" dirty="0"/>
          </a:p>
        </p:txBody>
      </p:sp>
      <p:sp>
        <p:nvSpPr>
          <p:cNvPr id="4" name="Text 2"/>
          <p:cNvSpPr/>
          <p:nvPr/>
        </p:nvSpPr>
        <p:spPr>
          <a:xfrm>
            <a:off x="1051560" y="365760"/>
            <a:ext cx="7589520" cy="457200"/>
          </a:xfrm>
          <a:prstGeom prst="rect">
            <a:avLst/>
          </a:prstGeom>
          <a:noFill/>
          <a:ln/>
        </p:spPr>
        <p:txBody>
          <a:bodyPr wrap="square" lIns="0" tIns="0" rIns="0" bIns="0" rtlCol="0" anchor="ctr"/>
          <a:lstStyle/>
          <a:p>
            <a:pPr indent="0" marL="0">
              <a:buNone/>
            </a:pPr>
            <a:r>
              <a:rPr lang="en-US" sz="1250" b="1" spc="200" kern="0" dirty="0">
                <a:solidFill>
                  <a:srgbClr val="1FA75B"/>
                </a:solidFill>
                <a:latin typeface="Calibri" pitchFamily="34" charset="0"/>
                <a:ea typeface="Calibri" pitchFamily="34" charset="-122"/>
                <a:cs typeface="Calibri" pitchFamily="34" charset="-120"/>
              </a:rPr>
              <a:t>OPEN SOURCE · GIVING BACK</a:t>
            </a:r>
            <a:endParaRPr lang="en-US" sz="1250" dirty="0"/>
          </a:p>
        </p:txBody>
      </p:sp>
      <p:sp>
        <p:nvSpPr>
          <p:cNvPr id="5" name="Text 3"/>
          <p:cNvSpPr/>
          <p:nvPr/>
        </p:nvSpPr>
        <p:spPr>
          <a:xfrm>
            <a:off x="457200" y="822960"/>
            <a:ext cx="8229600" cy="502920"/>
          </a:xfrm>
          <a:prstGeom prst="rect">
            <a:avLst/>
          </a:prstGeom>
          <a:noFill/>
          <a:ln/>
        </p:spPr>
        <p:txBody>
          <a:bodyPr wrap="square" rtlCol="0" anchor="ctr"/>
          <a:lstStyle/>
          <a:p>
            <a:pPr indent="0" marL="0">
              <a:buNone/>
            </a:pPr>
            <a:r>
              <a:rPr lang="en-US" sz="2600" b="1" dirty="0">
                <a:solidFill>
                  <a:srgbClr val="13233B"/>
                </a:solidFill>
                <a:latin typeface="Cambria" pitchFamily="34" charset="0"/>
                <a:ea typeface="Cambria" pitchFamily="34" charset="-122"/>
                <a:cs typeface="Cambria" pitchFamily="34" charset="-120"/>
              </a:rPr>
              <a:t>Everything Is Open Source</a:t>
            </a:r>
            <a:endParaRPr lang="en-US" sz="2600" dirty="0"/>
          </a:p>
        </p:txBody>
      </p:sp>
      <p:sp>
        <p:nvSpPr>
          <p:cNvPr id="6" name="Text 4"/>
          <p:cNvSpPr/>
          <p:nvPr/>
        </p:nvSpPr>
        <p:spPr>
          <a:xfrm>
            <a:off x="457200" y="1344168"/>
            <a:ext cx="8229600" cy="347472"/>
          </a:xfrm>
          <a:prstGeom prst="rect">
            <a:avLst/>
          </a:prstGeom>
          <a:noFill/>
          <a:ln/>
        </p:spPr>
        <p:txBody>
          <a:bodyPr wrap="square" rtlCol="0" anchor="ctr"/>
          <a:lstStyle/>
          <a:p>
            <a:pPr indent="0" marL="0">
              <a:buNone/>
            </a:pPr>
            <a:r>
              <a:rPr lang="en-US" sz="1350" b="1" i="1" dirty="0">
                <a:solidFill>
                  <a:srgbClr val="1FA75B"/>
                </a:solidFill>
                <a:latin typeface="Calibri" pitchFamily="34" charset="0"/>
                <a:ea typeface="Calibri" pitchFamily="34" charset="-122"/>
                <a:cs typeface="Calibri" pitchFamily="34" charset="-120"/>
              </a:rPr>
              <a:t>Everything needed to rebuild our robot is public — take it and go further.</a:t>
            </a:r>
            <a:endParaRPr lang="en-US" sz="1350" dirty="0"/>
          </a:p>
        </p:txBody>
      </p:sp>
      <p:sp>
        <p:nvSpPr>
          <p:cNvPr id="7" name="Shape 5"/>
          <p:cNvSpPr/>
          <p:nvPr/>
        </p:nvSpPr>
        <p:spPr>
          <a:xfrm>
            <a:off x="365760" y="1783080"/>
            <a:ext cx="4800600" cy="2240280"/>
          </a:xfrm>
          <a:prstGeom prst="roundRect">
            <a:avLst>
              <a:gd name="adj" fmla="val 2041"/>
            </a:avLst>
          </a:prstGeom>
          <a:solidFill>
            <a:srgbClr val="1FA75B">
              <a:alpha val="9000"/>
            </a:srgbClr>
          </a:solidFill>
          <a:ln w="12700">
            <a:solidFill>
              <a:srgbClr val="1FA75B">
                <a:alpha val="45000"/>
              </a:srgbClr>
            </a:solidFill>
            <a:prstDash val="solid"/>
          </a:ln>
        </p:spPr>
        <p:txBody>
          <a:bodyPr/>
          <a:p/>
        </p:txBody>
      </p:sp>
      <p:sp>
        <p:nvSpPr>
          <p:cNvPr id="8" name="Text 6"/>
          <p:cNvSpPr/>
          <p:nvPr/>
        </p:nvSpPr>
        <p:spPr>
          <a:xfrm>
            <a:off x="566928" y="1874520"/>
            <a:ext cx="4434840" cy="2084832"/>
          </a:xfrm>
          <a:prstGeom prst="rect">
            <a:avLst/>
          </a:prstGeom>
          <a:noFill/>
          <a:ln/>
        </p:spPr>
        <p:txBody>
          <a:bodyPr wrap="square" rtlCol="0" anchor="t">
            <a:normAutofit/>
          </a:bodyPr>
          <a:lstStyle/>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Public GitHub: firmware, KiCad PCBs/schematics, CAD, posters</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Printed omni wheel + 5-PCB architecture fully replicable</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BOM with part numbers &amp; prices (~ EUR 600/robot)</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Contact: vvsballers@gmail.com · @vvs_ballers</a:t>
            </a:r>
            <a:endParaRPr lang="en-US" sz="1350" dirty="0"/>
          </a:p>
          <a:p>
            <a:pPr marL="165100" indent="-165100">
              <a:spcAft>
                <a:spcPts val="500"/>
              </a:spcAft>
              <a:buSzPct val="100000"/>
              <a:buChar char="•"/>
            </a:pPr>
            <a:r>
              <a:rPr lang="en-US" sz="1350" dirty="0">
                <a:solidFill>
                  <a:srgbClr val="13233B"/>
                </a:solidFill>
                <a:latin typeface="Calibri" pitchFamily="34" charset="0"/>
                <a:ea typeface="Calibri" pitchFamily="34" charset="-122"/>
                <a:cs typeface="Calibri" pitchFamily="34" charset="-120"/>
              </a:rPr>
              <a:t>Ask us anything — we're happy to help you build one</a:t>
            </a:r>
            <a:endParaRPr lang="en-US" sz="1350" dirty="0"/>
          </a:p>
        </p:txBody>
      </p:sp>
      <p:pic>
        <p:nvPicPr>
          <p:cNvPr id="9" name="Image 0" descr="/sessions/gifted-vigilant-johnson/mnt/outputs/img/main_schematic.jpg">    </p:cNvPr>
          <p:cNvPicPr>
            <a:picLocks noChangeAspect="1"/>
          </p:cNvPicPr>
          <p:nvPr/>
        </p:nvPicPr>
        <p:blipFill>
          <a:blip r:embed="rId1"/>
          <a:stretch>
            <a:fillRect/>
          </a:stretch>
        </p:blipFill>
        <p:spPr>
          <a:xfrm>
            <a:off x="5447515" y="1783080"/>
            <a:ext cx="3186730" cy="2148840"/>
          </a:xfrm>
          <a:prstGeom prst="rect">
            <a:avLst/>
          </a:prstGeom>
          <a:effectLst>
            <a:outerShdw sx="100000" sy="100000" kx="0" ky="0" algn="bl" rotWithShape="0" blurRad="101600" dist="38100" dir="5400000">
              <a:srgbClr val="555f6b">
                <a:alpha val="35000"/>
              </a:srgbClr>
            </a:outerShdw>
          </a:effectLst>
        </p:spPr>
      </p:pic>
      <p:sp>
        <p:nvSpPr>
          <p:cNvPr id="10" name="Shape 7"/>
          <p:cNvSpPr/>
          <p:nvPr/>
        </p:nvSpPr>
        <p:spPr>
          <a:xfrm>
            <a:off x="5447515" y="1783080"/>
            <a:ext cx="3186730" cy="2148840"/>
          </a:xfrm>
          <a:prstGeom prst="rect">
            <a:avLst/>
          </a:prstGeom>
          <a:ln w="19050">
            <a:solidFill>
              <a:srgbClr val="1FA75B"/>
            </a:solidFill>
            <a:prstDash val="solid"/>
          </a:ln>
        </p:spPr>
        <p:txBody>
          <a:bodyPr/>
          <a:p/>
        </p:txBody>
      </p:sp>
      <p:sp>
        <p:nvSpPr>
          <p:cNvPr id="11" name="Text 8"/>
          <p:cNvSpPr/>
          <p:nvPr/>
        </p:nvSpPr>
        <p:spPr>
          <a:xfrm>
            <a:off x="5349240" y="3950208"/>
            <a:ext cx="3383280" cy="219456"/>
          </a:xfrm>
          <a:prstGeom prst="rect">
            <a:avLst/>
          </a:prstGeom>
          <a:noFill/>
          <a:ln/>
        </p:spPr>
        <p:txBody>
          <a:bodyPr wrap="square" lIns="0" tIns="0" rIns="0" bIns="0" rtlCol="0" anchor="ctr"/>
          <a:lstStyle/>
          <a:p>
            <a:pPr algn="ctr" indent="0" marL="0">
              <a:buNone/>
            </a:pPr>
            <a:r>
              <a:rPr lang="en-US" sz="950" i="1" dirty="0">
                <a:solidFill>
                  <a:srgbClr val="5C6773"/>
                </a:solidFill>
                <a:latin typeface="Calibri" pitchFamily="34" charset="0"/>
                <a:ea typeface="Calibri" pitchFamily="34" charset="-122"/>
                <a:cs typeface="Calibri" pitchFamily="34" charset="-120"/>
              </a:rPr>
              <a:t>All KiCad schematics &amp; PCBs published for other teams</a:t>
            </a:r>
            <a:endParaRPr lang="en-US" sz="950" dirty="0"/>
          </a:p>
        </p:txBody>
      </p:sp>
      <p:sp>
        <p:nvSpPr>
          <p:cNvPr id="12" name="Shape 9"/>
          <p:cNvSpPr/>
          <p:nvPr/>
        </p:nvSpPr>
        <p:spPr>
          <a:xfrm>
            <a:off x="365760" y="4206240"/>
            <a:ext cx="2697480" cy="658368"/>
          </a:xfrm>
          <a:prstGeom prst="roundRect">
            <a:avLst>
              <a:gd name="adj" fmla="val 8333"/>
            </a:avLst>
          </a:prstGeom>
          <a:solidFill>
            <a:srgbClr val="1FA75B"/>
          </a:solidFill>
          <a:ln/>
          <a:effectLst>
            <a:outerShdw sx="100000" sy="100000" kx="0" ky="0" algn="bl" rotWithShape="0" blurRad="63500" dist="25400" dir="5400000">
              <a:srgbClr val="9AA6B2">
                <a:alpha val="25000"/>
              </a:srgbClr>
            </a:outerShdw>
          </a:effectLst>
        </p:spPr>
        <p:txBody>
          <a:bodyPr/>
          <a:p/>
        </p:txBody>
      </p:sp>
      <p:sp>
        <p:nvSpPr>
          <p:cNvPr id="13" name="Text 10"/>
          <p:cNvSpPr/>
          <p:nvPr/>
        </p:nvSpPr>
        <p:spPr>
          <a:xfrm>
            <a:off x="420624" y="4251960"/>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100%</a:t>
            </a:r>
            <a:endParaRPr lang="en-US" sz="1800" dirty="0"/>
          </a:p>
        </p:txBody>
      </p:sp>
      <p:sp>
        <p:nvSpPr>
          <p:cNvPr id="14" name="Text 11"/>
          <p:cNvSpPr/>
          <p:nvPr/>
        </p:nvSpPr>
        <p:spPr>
          <a:xfrm>
            <a:off x="420624" y="4608576"/>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OPEN SOURCE</a:t>
            </a:r>
            <a:endParaRPr lang="en-US" sz="850" dirty="0"/>
          </a:p>
        </p:txBody>
      </p:sp>
      <p:sp>
        <p:nvSpPr>
          <p:cNvPr id="15" name="Shape 12"/>
          <p:cNvSpPr/>
          <p:nvPr/>
        </p:nvSpPr>
        <p:spPr>
          <a:xfrm>
            <a:off x="3200400" y="4206240"/>
            <a:ext cx="2697480" cy="658368"/>
          </a:xfrm>
          <a:prstGeom prst="roundRect">
            <a:avLst>
              <a:gd name="adj" fmla="val 8333"/>
            </a:avLst>
          </a:prstGeom>
          <a:solidFill>
            <a:srgbClr val="1FA75B"/>
          </a:solidFill>
          <a:ln/>
          <a:effectLst>
            <a:outerShdw sx="100000" sy="100000" kx="0" ky="0" algn="bl" rotWithShape="0" blurRad="63500" dist="25400" dir="5400000">
              <a:srgbClr val="9AA6B2">
                <a:alpha val="25000"/>
              </a:srgbClr>
            </a:outerShdw>
          </a:effectLst>
        </p:spPr>
        <p:txBody>
          <a:bodyPr/>
          <a:p/>
        </p:txBody>
      </p:sp>
      <p:sp>
        <p:nvSpPr>
          <p:cNvPr id="16" name="Text 13"/>
          <p:cNvSpPr/>
          <p:nvPr/>
        </p:nvSpPr>
        <p:spPr>
          <a:xfrm>
            <a:off x="3255264" y="4251960"/>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€600</a:t>
            </a:r>
            <a:endParaRPr lang="en-US" sz="1800" dirty="0"/>
          </a:p>
        </p:txBody>
      </p:sp>
      <p:sp>
        <p:nvSpPr>
          <p:cNvPr id="17" name="Text 14"/>
          <p:cNvSpPr/>
          <p:nvPr/>
        </p:nvSpPr>
        <p:spPr>
          <a:xfrm>
            <a:off x="3255264" y="4608576"/>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PER ROBOT</a:t>
            </a:r>
            <a:endParaRPr lang="en-US" sz="850" dirty="0"/>
          </a:p>
        </p:txBody>
      </p:sp>
      <p:sp>
        <p:nvSpPr>
          <p:cNvPr id="18" name="Shape 15"/>
          <p:cNvSpPr/>
          <p:nvPr/>
        </p:nvSpPr>
        <p:spPr>
          <a:xfrm>
            <a:off x="6035040" y="4206240"/>
            <a:ext cx="2697480" cy="658368"/>
          </a:xfrm>
          <a:prstGeom prst="roundRect">
            <a:avLst>
              <a:gd name="adj" fmla="val 8333"/>
            </a:avLst>
          </a:prstGeom>
          <a:solidFill>
            <a:srgbClr val="1FA75B"/>
          </a:solidFill>
          <a:ln/>
          <a:effectLst>
            <a:outerShdw sx="100000" sy="100000" kx="0" ky="0" algn="bl" rotWithShape="0" blurRad="63500" dist="25400" dir="5400000">
              <a:srgbClr val="9AA6B2">
                <a:alpha val="25000"/>
              </a:srgbClr>
            </a:outerShdw>
          </a:effectLst>
        </p:spPr>
        <p:txBody>
          <a:bodyPr/>
          <a:p/>
        </p:txBody>
      </p:sp>
      <p:sp>
        <p:nvSpPr>
          <p:cNvPr id="19" name="Text 16"/>
          <p:cNvSpPr/>
          <p:nvPr/>
        </p:nvSpPr>
        <p:spPr>
          <a:xfrm>
            <a:off x="6089904" y="4251960"/>
            <a:ext cx="258775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47</a:t>
            </a:r>
            <a:endParaRPr lang="en-US" sz="1800" dirty="0"/>
          </a:p>
        </p:txBody>
      </p:sp>
      <p:sp>
        <p:nvSpPr>
          <p:cNvPr id="20" name="Text 17"/>
          <p:cNvSpPr/>
          <p:nvPr/>
        </p:nvSpPr>
        <p:spPr>
          <a:xfrm>
            <a:off x="6089904" y="4608576"/>
            <a:ext cx="2587752" cy="219456"/>
          </a:xfrm>
          <a:prstGeom prst="rect">
            <a:avLst/>
          </a:prstGeom>
          <a:noFill/>
          <a:ln/>
        </p:spPr>
        <p:txBody>
          <a:bodyPr wrap="square" lIns="0" tIns="0" rIns="0" bIns="0" rtlCol="0" anchor="t"/>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GIT COMMITS</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2033"/>
        </a:solidFill>
      </p:bgPr>
    </p:bg>
    <p:spTree>
      <p:nvGrpSpPr>
        <p:cNvPr id="1" name=""/>
        <p:cNvGrpSpPr/>
        <p:nvPr/>
      </p:nvGrpSpPr>
      <p:grpSpPr>
        <a:xfrm>
          <a:off x="0" y="0"/>
          <a:ext cx="0" cy="0"/>
          <a:chOff x="0" y="0"/>
          <a:chExt cx="0" cy="0"/>
        </a:xfrm>
      </p:grpSpPr>
      <p:sp>
        <p:nvSpPr>
          <p:cNvPr id="2" name="Shape 0"/>
          <p:cNvSpPr/>
          <p:nvPr/>
        </p:nvSpPr>
        <p:spPr>
          <a:xfrm>
            <a:off x="7589520" y="-1005840"/>
            <a:ext cx="3291840" cy="3291840"/>
          </a:xfrm>
          <a:prstGeom prst="ellipse">
            <a:avLst/>
          </a:prstGeom>
          <a:ln w="25400">
            <a:solidFill>
              <a:srgbClr val="E8912A"/>
            </a:solidFill>
            <a:prstDash val="solid"/>
          </a:ln>
        </p:spPr>
        <p:txBody>
          <a:bodyPr/>
          <a:p/>
        </p:txBody>
      </p:sp>
      <p:sp>
        <p:nvSpPr>
          <p:cNvPr id="3" name="Shape 1"/>
          <p:cNvSpPr/>
          <p:nvPr/>
        </p:nvSpPr>
        <p:spPr>
          <a:xfrm>
            <a:off x="-914400" y="3108960"/>
            <a:ext cx="2743200" cy="2743200"/>
          </a:xfrm>
          <a:prstGeom prst="ellipse">
            <a:avLst/>
          </a:prstGeom>
          <a:ln w="25400">
            <a:solidFill>
              <a:srgbClr val="0E9BA6"/>
            </a:solidFill>
            <a:prstDash val="solid"/>
          </a:ln>
        </p:spPr>
        <p:txBody>
          <a:bodyPr/>
          <a:p/>
        </p:txBody>
      </p:sp>
      <p:sp>
        <p:nvSpPr>
          <p:cNvPr id="4" name="Text 2"/>
          <p:cNvSpPr/>
          <p:nvPr/>
        </p:nvSpPr>
        <p:spPr>
          <a:xfrm>
            <a:off x="640080" y="1828800"/>
            <a:ext cx="8229600" cy="91440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FAQ</a:t>
            </a:r>
            <a:endParaRPr lang="en-US" sz="4400" dirty="0"/>
          </a:p>
        </p:txBody>
      </p:sp>
      <p:sp>
        <p:nvSpPr>
          <p:cNvPr id="5" name="Text 3"/>
          <p:cNvSpPr/>
          <p:nvPr/>
        </p:nvSpPr>
        <p:spPr>
          <a:xfrm>
            <a:off x="658368" y="2788920"/>
            <a:ext cx="8229600" cy="457200"/>
          </a:xfrm>
          <a:prstGeom prst="rect">
            <a:avLst/>
          </a:prstGeom>
          <a:noFill/>
          <a:ln/>
        </p:spPr>
        <p:txBody>
          <a:bodyPr wrap="square" rtlCol="0" anchor="ctr"/>
          <a:lstStyle/>
          <a:p>
            <a:pPr indent="0" marL="0">
              <a:buNone/>
            </a:pPr>
            <a:r>
              <a:rPr lang="en-US" sz="1600" dirty="0">
                <a:solidFill>
                  <a:srgbClr val="CADCFC"/>
                </a:solidFill>
                <a:latin typeface="Calibri" pitchFamily="34" charset="0"/>
                <a:ea typeface="Calibri" pitchFamily="34" charset="-122"/>
                <a:cs typeface="Calibri" pitchFamily="34" charset="-120"/>
              </a:rPr>
              <a:t>Frequently asked questions — one per category. Evidence is one tap away.</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457200" cy="457200"/>
          </a:xfrm>
          <a:prstGeom prst="ellipse">
            <a:avLst/>
          </a:prstGeom>
          <a:solidFill>
            <a:srgbClr val="0E9BA6"/>
          </a:solidFill>
          <a:ln/>
        </p:spPr>
        <p:txBody>
          <a:bodyPr/>
          <a:p/>
        </p:txBody>
      </p:sp>
      <p:sp>
        <p:nvSpPr>
          <p:cNvPr id="3" name="Text 1"/>
          <p:cNvSpPr/>
          <p:nvPr/>
        </p:nvSpPr>
        <p:spPr>
          <a:xfrm>
            <a:off x="457200" y="3657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Q</a:t>
            </a:r>
            <a:endParaRPr lang="en-US" sz="1700" dirty="0"/>
          </a:p>
        </p:txBody>
      </p:sp>
      <p:sp>
        <p:nvSpPr>
          <p:cNvPr id="4" name="Text 2"/>
          <p:cNvSpPr/>
          <p:nvPr/>
        </p:nvSpPr>
        <p:spPr>
          <a:xfrm>
            <a:off x="1051560" y="365760"/>
            <a:ext cx="7589520" cy="457200"/>
          </a:xfrm>
          <a:prstGeom prst="rect">
            <a:avLst/>
          </a:prstGeom>
          <a:noFill/>
          <a:ln/>
        </p:spPr>
        <p:txBody>
          <a:bodyPr wrap="square" lIns="0" tIns="0" rIns="0" bIns="0" rtlCol="0" anchor="ctr"/>
          <a:lstStyle/>
          <a:p>
            <a:pPr indent="0" marL="0">
              <a:buNone/>
            </a:pPr>
            <a:r>
              <a:rPr lang="en-US" sz="1250" b="1" spc="200" kern="0" dirty="0">
                <a:solidFill>
                  <a:srgbClr val="0E9BA6"/>
                </a:solidFill>
                <a:latin typeface="Calibri" pitchFamily="34" charset="0"/>
                <a:ea typeface="Calibri" pitchFamily="34" charset="-122"/>
                <a:cs typeface="Calibri" pitchFamily="34" charset="-120"/>
              </a:rPr>
              <a:t>FAQ · GENERAL</a:t>
            </a:r>
            <a:endParaRPr lang="en-US" sz="1250" dirty="0"/>
          </a:p>
        </p:txBody>
      </p:sp>
      <p:sp>
        <p:nvSpPr>
          <p:cNvPr id="5" name="Text 3"/>
          <p:cNvSpPr/>
          <p:nvPr/>
        </p:nvSpPr>
        <p:spPr>
          <a:xfrm>
            <a:off x="457200" y="841248"/>
            <a:ext cx="8229600" cy="822960"/>
          </a:xfrm>
          <a:prstGeom prst="rect">
            <a:avLst/>
          </a:prstGeom>
          <a:noFill/>
          <a:ln/>
        </p:spPr>
        <p:txBody>
          <a:bodyPr wrap="square" rtlCol="0" anchor="t"/>
          <a:lstStyle/>
          <a:p>
            <a:pPr indent="0" marL="0">
              <a:buNone/>
            </a:pPr>
            <a:r>
              <a:rPr lang="en-US" sz="1900" b="1" dirty="0">
                <a:solidFill>
                  <a:srgbClr val="13233B"/>
                </a:solidFill>
                <a:latin typeface="Cambria" pitchFamily="34" charset="0"/>
                <a:ea typeface="Cambria" pitchFamily="34" charset="-122"/>
                <a:cs typeface="Cambria" pitchFamily="34" charset="-120"/>
              </a:rPr>
              <a:t>Which decisions were driven by which testing? What did you draw on?</a:t>
            </a:r>
            <a:endParaRPr lang="en-US" sz="1900" dirty="0"/>
          </a:p>
        </p:txBody>
      </p:sp>
      <p:sp>
        <p:nvSpPr>
          <p:cNvPr id="6" name="Shape 4"/>
          <p:cNvSpPr/>
          <p:nvPr/>
        </p:nvSpPr>
        <p:spPr>
          <a:xfrm>
            <a:off x="365760" y="1783080"/>
            <a:ext cx="4937760" cy="2331720"/>
          </a:xfrm>
          <a:prstGeom prst="roundRect">
            <a:avLst>
              <a:gd name="adj" fmla="val 1961"/>
            </a:avLst>
          </a:prstGeom>
          <a:solidFill>
            <a:srgbClr val="0E9BA6">
              <a:alpha val="9000"/>
            </a:srgbClr>
          </a:solidFill>
          <a:ln w="12700">
            <a:solidFill>
              <a:srgbClr val="0E9BA6">
                <a:alpha val="45000"/>
              </a:srgbClr>
            </a:solidFill>
            <a:prstDash val="solid"/>
          </a:ln>
        </p:spPr>
        <p:txBody>
          <a:bodyPr/>
          <a:p/>
        </p:txBody>
      </p:sp>
      <p:sp>
        <p:nvSpPr>
          <p:cNvPr id="7" name="Text 5"/>
          <p:cNvSpPr/>
          <p:nvPr/>
        </p:nvSpPr>
        <p:spPr>
          <a:xfrm>
            <a:off x="548640" y="1874520"/>
            <a:ext cx="4572000" cy="2148840"/>
          </a:xfrm>
          <a:prstGeom prst="rect">
            <a:avLst/>
          </a:prstGeom>
          <a:noFill/>
          <a:ln/>
        </p:spPr>
        <p:txBody>
          <a:bodyPr wrap="square" rtlCol="0" anchor="t">
            <a:normAutofit/>
          </a:bodyPr>
          <a:lstStyle/>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Almost every decision is testing-driven (three below).</a:t>
            </a:r>
            <a:endParaRPr lang="en-US" sz="1300" dirty="0"/>
          </a:p>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Motors overheating in stalls → external current limiter (~1 A cap).</a:t>
            </a:r>
            <a:endParaRPr lang="en-US" sz="1300" dirty="0"/>
          </a:p>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IR losing the ball under ~60 cm → camera + IR fusion.</a:t>
            </a:r>
            <a:endParaRPr lang="en-US" sz="1300" dirty="0"/>
          </a:p>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Ultrasonic board resetting under motor load → bulk caps per rail.</a:t>
            </a:r>
            <a:endParaRPr lang="en-US" sz="1300" dirty="0"/>
          </a:p>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Inspiration: RCJ awesome-rcj-soccer TDPs/posters; then improved on them.</a:t>
            </a:r>
            <a:endParaRPr lang="en-US" sz="1300" dirty="0"/>
          </a:p>
        </p:txBody>
      </p:sp>
      <p:pic>
        <p:nvPicPr>
          <p:cNvPr id="8" name="Image 0" descr="/sessions/gifted-vigilant-johnson/mnt/outputs/img/robot_assembled.jpg">    </p:cNvPr>
          <p:cNvPicPr>
            <a:picLocks noChangeAspect="1"/>
          </p:cNvPicPr>
          <p:nvPr/>
        </p:nvPicPr>
        <p:blipFill>
          <a:blip r:embed="rId1"/>
          <a:stretch>
            <a:fillRect/>
          </a:stretch>
        </p:blipFill>
        <p:spPr>
          <a:xfrm>
            <a:off x="5486400" y="2206934"/>
            <a:ext cx="3246120" cy="1493155"/>
          </a:xfrm>
          <a:prstGeom prst="rect">
            <a:avLst/>
          </a:prstGeom>
          <a:effectLst>
            <a:outerShdw sx="100000" sy="100000" kx="0" ky="0" algn="bl" rotWithShape="0" blurRad="101600" dist="38100" dir="5400000">
              <a:srgbClr val="555f6b">
                <a:alpha val="35000"/>
              </a:srgbClr>
            </a:outerShdw>
          </a:effectLst>
        </p:spPr>
      </p:pic>
      <p:sp>
        <p:nvSpPr>
          <p:cNvPr id="9" name="Shape 6"/>
          <p:cNvSpPr/>
          <p:nvPr/>
        </p:nvSpPr>
        <p:spPr>
          <a:xfrm>
            <a:off x="5486400" y="2206934"/>
            <a:ext cx="3246120" cy="1493155"/>
          </a:xfrm>
          <a:prstGeom prst="rect">
            <a:avLst/>
          </a:prstGeom>
          <a:ln w="19050">
            <a:solidFill>
              <a:srgbClr val="0E9BA6"/>
            </a:solidFill>
            <a:prstDash val="solid"/>
          </a:ln>
        </p:spPr>
        <p:txBody>
          <a:bodyPr/>
          <a:p/>
        </p:txBody>
      </p:sp>
      <p:sp>
        <p:nvSpPr>
          <p:cNvPr id="10" name="Text 7"/>
          <p:cNvSpPr/>
          <p:nvPr/>
        </p:nvSpPr>
        <p:spPr>
          <a:xfrm>
            <a:off x="5486400" y="4114800"/>
            <a:ext cx="3246120" cy="219456"/>
          </a:xfrm>
          <a:prstGeom prst="rect">
            <a:avLst/>
          </a:prstGeom>
          <a:noFill/>
          <a:ln/>
        </p:spPr>
        <p:txBody>
          <a:bodyPr wrap="square" lIns="0" tIns="0" rIns="0" bIns="0" rtlCol="0" anchor="ctr"/>
          <a:lstStyle/>
          <a:p>
            <a:pPr algn="ctr" indent="0" marL="0">
              <a:buNone/>
            </a:pPr>
            <a:r>
              <a:rPr lang="en-US" sz="950" i="1" dirty="0">
                <a:solidFill>
                  <a:srgbClr val="5C6773"/>
                </a:solidFill>
                <a:latin typeface="Calibri" pitchFamily="34" charset="0"/>
                <a:ea typeface="Calibri" pitchFamily="34" charset="-122"/>
                <a:cs typeface="Calibri" pitchFamily="34" charset="-120"/>
              </a:rPr>
              <a:t>Both robots, ready to play</a:t>
            </a:r>
            <a:endParaRPr lang="en-US" sz="950" dirty="0"/>
          </a:p>
        </p:txBody>
      </p:sp>
      <p:sp>
        <p:nvSpPr>
          <p:cNvPr id="11" name="Text 8"/>
          <p:cNvSpPr/>
          <p:nvPr/>
        </p:nvSpPr>
        <p:spPr>
          <a:xfrm>
            <a:off x="457200" y="4343400"/>
            <a:ext cx="8229600" cy="320040"/>
          </a:xfrm>
          <a:prstGeom prst="rect">
            <a:avLst/>
          </a:prstGeom>
          <a:noFill/>
          <a:ln/>
        </p:spPr>
        <p:txBody>
          <a:bodyPr wrap="square" lIns="0" tIns="0" rIns="0" bIns="0" rtlCol="0" anchor="ctr"/>
          <a:lstStyle/>
          <a:p>
            <a:pPr indent="0" marL="0">
              <a:buNone/>
            </a:pPr>
            <a:r>
              <a:rPr lang="en-US" sz="1100" b="1" dirty="0">
                <a:solidFill>
                  <a:srgbClr val="0E9BA6"/>
                </a:solidFill>
                <a:latin typeface="Calibri" pitchFamily="34" charset="0"/>
                <a:ea typeface="Calibri" pitchFamily="34" charset="-122"/>
                <a:cs typeface="Calibri" pitchFamily="34" charset="-120"/>
              </a:rPr>
              <a:t>Evidence: </a:t>
            </a:r>
            <a:pPr indent="0" marL="0">
              <a:buNone/>
            </a:pPr>
            <a:r>
              <a:rPr lang="en-US" sz="1100" i="1" dirty="0">
                <a:solidFill>
                  <a:srgbClr val="5C6773"/>
                </a:solidFill>
                <a:latin typeface="Calibri" pitchFamily="34" charset="0"/>
                <a:ea typeface="Calibri" pitchFamily="34" charset="-122"/>
                <a:cs typeface="Calibri" pitchFamily="34" charset="-120"/>
              </a:rPr>
              <a:t>Slide 8 graphs.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457200" cy="457200"/>
          </a:xfrm>
          <a:prstGeom prst="ellipse">
            <a:avLst/>
          </a:prstGeom>
          <a:solidFill>
            <a:srgbClr val="2F6FB0"/>
          </a:solidFill>
          <a:ln/>
        </p:spPr>
        <p:txBody>
          <a:bodyPr/>
          <a:p/>
        </p:txBody>
      </p:sp>
      <p:sp>
        <p:nvSpPr>
          <p:cNvPr id="3" name="Text 1"/>
          <p:cNvSpPr/>
          <p:nvPr/>
        </p:nvSpPr>
        <p:spPr>
          <a:xfrm>
            <a:off x="457200" y="3657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Q</a:t>
            </a:r>
            <a:endParaRPr lang="en-US" sz="1700" dirty="0"/>
          </a:p>
        </p:txBody>
      </p:sp>
      <p:sp>
        <p:nvSpPr>
          <p:cNvPr id="4" name="Text 2"/>
          <p:cNvSpPr/>
          <p:nvPr/>
        </p:nvSpPr>
        <p:spPr>
          <a:xfrm>
            <a:off x="1051560" y="365760"/>
            <a:ext cx="7589520" cy="457200"/>
          </a:xfrm>
          <a:prstGeom prst="rect">
            <a:avLst/>
          </a:prstGeom>
          <a:noFill/>
          <a:ln/>
        </p:spPr>
        <p:txBody>
          <a:bodyPr wrap="square" lIns="0" tIns="0" rIns="0" bIns="0" rtlCol="0" anchor="ctr"/>
          <a:lstStyle/>
          <a:p>
            <a:pPr indent="0" marL="0">
              <a:buNone/>
            </a:pPr>
            <a:r>
              <a:rPr lang="en-US" sz="1250" b="1" spc="200" kern="0" dirty="0">
                <a:solidFill>
                  <a:srgbClr val="2F6FB0"/>
                </a:solidFill>
                <a:latin typeface="Calibri" pitchFamily="34" charset="0"/>
                <a:ea typeface="Calibri" pitchFamily="34" charset="-122"/>
                <a:cs typeface="Calibri" pitchFamily="34" charset="-120"/>
              </a:rPr>
              <a:t>FAQ · ELECTRICAL</a:t>
            </a:r>
            <a:endParaRPr lang="en-US" sz="1250" dirty="0"/>
          </a:p>
        </p:txBody>
      </p:sp>
      <p:sp>
        <p:nvSpPr>
          <p:cNvPr id="5" name="Text 3"/>
          <p:cNvSpPr/>
          <p:nvPr/>
        </p:nvSpPr>
        <p:spPr>
          <a:xfrm>
            <a:off x="457200" y="841248"/>
            <a:ext cx="8229600" cy="822960"/>
          </a:xfrm>
          <a:prstGeom prst="rect">
            <a:avLst/>
          </a:prstGeom>
          <a:noFill/>
          <a:ln/>
        </p:spPr>
        <p:txBody>
          <a:bodyPr wrap="square" rtlCol="0" anchor="t"/>
          <a:lstStyle/>
          <a:p>
            <a:pPr indent="0" marL="0">
              <a:buNone/>
            </a:pPr>
            <a:r>
              <a:rPr lang="en-US" sz="1900" b="1" dirty="0">
                <a:solidFill>
                  <a:srgbClr val="13233B"/>
                </a:solidFill>
                <a:latin typeface="Cambria" pitchFamily="34" charset="0"/>
                <a:ea typeface="Cambria" pitchFamily="34" charset="-122"/>
                <a:cs typeface="Cambria" pitchFamily="34" charset="-120"/>
              </a:rPr>
              <a:t>Why did you pick this component? What did you blow up / how did you debug?</a:t>
            </a:r>
            <a:endParaRPr lang="en-US" sz="1900" dirty="0"/>
          </a:p>
        </p:txBody>
      </p:sp>
      <p:sp>
        <p:nvSpPr>
          <p:cNvPr id="6" name="Shape 4"/>
          <p:cNvSpPr/>
          <p:nvPr/>
        </p:nvSpPr>
        <p:spPr>
          <a:xfrm>
            <a:off x="365760" y="1783080"/>
            <a:ext cx="4937760" cy="2331720"/>
          </a:xfrm>
          <a:prstGeom prst="roundRect">
            <a:avLst>
              <a:gd name="adj" fmla="val 1961"/>
            </a:avLst>
          </a:prstGeom>
          <a:solidFill>
            <a:srgbClr val="2F6FB0">
              <a:alpha val="9000"/>
            </a:srgbClr>
          </a:solidFill>
          <a:ln w="12700">
            <a:solidFill>
              <a:srgbClr val="2F6FB0">
                <a:alpha val="45000"/>
              </a:srgbClr>
            </a:solidFill>
            <a:prstDash val="solid"/>
          </a:ln>
        </p:spPr>
        <p:txBody>
          <a:bodyPr/>
          <a:p/>
        </p:txBody>
      </p:sp>
      <p:sp>
        <p:nvSpPr>
          <p:cNvPr id="7" name="Text 5"/>
          <p:cNvSpPr/>
          <p:nvPr/>
        </p:nvSpPr>
        <p:spPr>
          <a:xfrm>
            <a:off x="548640" y="1874520"/>
            <a:ext cx="4572000" cy="2148840"/>
          </a:xfrm>
          <a:prstGeom prst="rect">
            <a:avLst/>
          </a:prstGeom>
          <a:noFill/>
          <a:ln/>
        </p:spPr>
        <p:txBody>
          <a:bodyPr wrap="square" rtlCol="0" anchor="t">
            <a:normAutofit/>
          </a:bodyPr>
          <a:lstStyle/>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DRV8263H: 12 V power, 3.3 V logic, PH/EN, IPROPI current-sense — which enabled our stall protection.</a:t>
            </a:r>
            <a:endParaRPr lang="en-US" sz="1300" dirty="0"/>
          </a:p>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Teensy 4.1: 600 MHz + many hardware UARTs (5 links + comms @100 Hz).</a:t>
            </a:r>
            <a:endParaRPr lang="en-US" sz="1300" dirty="0"/>
          </a:p>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Blew up: drivers overheated when we grounded IPROPI for max current → Nano pulls DRVOFF above ~1 A (stall 1.6).</a:t>
            </a:r>
            <a:endParaRPr lang="en-US" sz="1300" dirty="0"/>
          </a:p>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Ultrasonic PCB reset under load → scope showed rail sag → bulk caps per rail → stable.</a:t>
            </a:r>
            <a:endParaRPr lang="en-US" sz="1300" dirty="0"/>
          </a:p>
        </p:txBody>
      </p:sp>
      <p:pic>
        <p:nvPicPr>
          <p:cNvPr id="8" name="Image 0" descr="/sessions/gifted-vigilant-johnson/mnt/outputs/img/nano_current.jpg">    </p:cNvPr>
          <p:cNvPicPr>
            <a:picLocks noChangeAspect="1"/>
          </p:cNvPicPr>
          <p:nvPr/>
        </p:nvPicPr>
        <p:blipFill>
          <a:blip r:embed="rId1"/>
          <a:stretch>
            <a:fillRect/>
          </a:stretch>
        </p:blipFill>
        <p:spPr>
          <a:xfrm>
            <a:off x="5585841" y="1810512"/>
            <a:ext cx="3047238" cy="2286000"/>
          </a:xfrm>
          <a:prstGeom prst="rect">
            <a:avLst/>
          </a:prstGeom>
          <a:effectLst>
            <a:outerShdw sx="100000" sy="100000" kx="0" ky="0" algn="bl" rotWithShape="0" blurRad="101600" dist="38100" dir="5400000">
              <a:srgbClr val="555f6b">
                <a:alpha val="35000"/>
              </a:srgbClr>
            </a:outerShdw>
          </a:effectLst>
        </p:spPr>
      </p:pic>
      <p:sp>
        <p:nvSpPr>
          <p:cNvPr id="9" name="Shape 6"/>
          <p:cNvSpPr/>
          <p:nvPr/>
        </p:nvSpPr>
        <p:spPr>
          <a:xfrm>
            <a:off x="5585841" y="1810512"/>
            <a:ext cx="3047238" cy="2286000"/>
          </a:xfrm>
          <a:prstGeom prst="rect">
            <a:avLst/>
          </a:prstGeom>
          <a:ln w="19050">
            <a:solidFill>
              <a:srgbClr val="2F6FB0"/>
            </a:solidFill>
            <a:prstDash val="solid"/>
          </a:ln>
        </p:spPr>
        <p:txBody>
          <a:bodyPr/>
          <a:p/>
        </p:txBody>
      </p:sp>
      <p:sp>
        <p:nvSpPr>
          <p:cNvPr id="10" name="Text 7"/>
          <p:cNvSpPr/>
          <p:nvPr/>
        </p:nvSpPr>
        <p:spPr>
          <a:xfrm>
            <a:off x="5486400" y="4114800"/>
            <a:ext cx="3246120" cy="219456"/>
          </a:xfrm>
          <a:prstGeom prst="rect">
            <a:avLst/>
          </a:prstGeom>
          <a:noFill/>
          <a:ln/>
        </p:spPr>
        <p:txBody>
          <a:bodyPr wrap="square" lIns="0" tIns="0" rIns="0" bIns="0" rtlCol="0" anchor="ctr"/>
          <a:lstStyle/>
          <a:p>
            <a:pPr algn="ctr" indent="0" marL="0">
              <a:buNone/>
            </a:pPr>
            <a:r>
              <a:rPr lang="en-US" sz="950" i="1" dirty="0">
                <a:solidFill>
                  <a:srgbClr val="5C6773"/>
                </a:solidFill>
                <a:latin typeface="Calibri" pitchFamily="34" charset="0"/>
                <a:ea typeface="Calibri" pitchFamily="34" charset="-122"/>
                <a:cs typeface="Calibri" pitchFamily="34" charset="-120"/>
              </a:rPr>
              <a:t>External Arduino Nano current limiter</a:t>
            </a:r>
            <a:endParaRPr lang="en-US" sz="950" dirty="0"/>
          </a:p>
        </p:txBody>
      </p:sp>
      <p:sp>
        <p:nvSpPr>
          <p:cNvPr id="11" name="Text 8"/>
          <p:cNvSpPr/>
          <p:nvPr/>
        </p:nvSpPr>
        <p:spPr>
          <a:xfrm>
            <a:off x="457200" y="4343400"/>
            <a:ext cx="8229600" cy="320040"/>
          </a:xfrm>
          <a:prstGeom prst="rect">
            <a:avLst/>
          </a:prstGeom>
          <a:noFill/>
          <a:ln/>
        </p:spPr>
        <p:txBody>
          <a:bodyPr wrap="square" lIns="0" tIns="0" rIns="0" bIns="0" rtlCol="0" anchor="ctr"/>
          <a:lstStyle/>
          <a:p>
            <a:pPr indent="0" marL="0">
              <a:buNone/>
            </a:pPr>
            <a:r>
              <a:rPr lang="en-US" sz="1100" b="1" dirty="0">
                <a:solidFill>
                  <a:srgbClr val="2F6FB0"/>
                </a:solidFill>
                <a:latin typeface="Calibri" pitchFamily="34" charset="0"/>
                <a:ea typeface="Calibri" pitchFamily="34" charset="-122"/>
                <a:cs typeface="Calibri" pitchFamily="34" charset="-120"/>
              </a:rPr>
              <a:t>Evidence: </a:t>
            </a:r>
            <a:pPr indent="0" marL="0">
              <a:buNone/>
            </a:pPr>
            <a:r>
              <a:rPr lang="en-US" sz="1100" i="1" dirty="0">
                <a:solidFill>
                  <a:srgbClr val="5C6773"/>
                </a:solidFill>
                <a:latin typeface="Calibri" pitchFamily="34" charset="0"/>
                <a:ea typeface="Calibri" pitchFamily="34" charset="-122"/>
                <a:cs typeface="Calibri" pitchFamily="34" charset="-120"/>
              </a:rPr>
              <a:t>'Arduino Nano Current Controller' photo + stall-current graph.</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457200" cy="457200"/>
          </a:xfrm>
          <a:prstGeom prst="ellipse">
            <a:avLst/>
          </a:prstGeom>
          <a:solidFill>
            <a:srgbClr val="1FA75B"/>
          </a:solidFill>
          <a:ln/>
        </p:spPr>
        <p:txBody>
          <a:bodyPr/>
          <a:p/>
        </p:txBody>
      </p:sp>
      <p:sp>
        <p:nvSpPr>
          <p:cNvPr id="3" name="Text 1"/>
          <p:cNvSpPr/>
          <p:nvPr/>
        </p:nvSpPr>
        <p:spPr>
          <a:xfrm>
            <a:off x="457200" y="3657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Q</a:t>
            </a:r>
            <a:endParaRPr lang="en-US" sz="1700" dirty="0"/>
          </a:p>
        </p:txBody>
      </p:sp>
      <p:sp>
        <p:nvSpPr>
          <p:cNvPr id="4" name="Text 2"/>
          <p:cNvSpPr/>
          <p:nvPr/>
        </p:nvSpPr>
        <p:spPr>
          <a:xfrm>
            <a:off x="1051560" y="365760"/>
            <a:ext cx="7589520" cy="457200"/>
          </a:xfrm>
          <a:prstGeom prst="rect">
            <a:avLst/>
          </a:prstGeom>
          <a:noFill/>
          <a:ln/>
        </p:spPr>
        <p:txBody>
          <a:bodyPr wrap="square" lIns="0" tIns="0" rIns="0" bIns="0" rtlCol="0" anchor="ctr"/>
          <a:lstStyle/>
          <a:p>
            <a:pPr indent="0" marL="0">
              <a:buNone/>
            </a:pPr>
            <a:r>
              <a:rPr lang="en-US" sz="1250" b="1" spc="200" kern="0" dirty="0">
                <a:solidFill>
                  <a:srgbClr val="1FA75B"/>
                </a:solidFill>
                <a:latin typeface="Calibri" pitchFamily="34" charset="0"/>
                <a:ea typeface="Calibri" pitchFamily="34" charset="-122"/>
                <a:cs typeface="Calibri" pitchFamily="34" charset="-120"/>
              </a:rPr>
              <a:t>FAQ · MECHANICAL</a:t>
            </a:r>
            <a:endParaRPr lang="en-US" sz="1250" dirty="0"/>
          </a:p>
        </p:txBody>
      </p:sp>
      <p:sp>
        <p:nvSpPr>
          <p:cNvPr id="5" name="Text 3"/>
          <p:cNvSpPr/>
          <p:nvPr/>
        </p:nvSpPr>
        <p:spPr>
          <a:xfrm>
            <a:off x="457200" y="841248"/>
            <a:ext cx="8229600" cy="822960"/>
          </a:xfrm>
          <a:prstGeom prst="rect">
            <a:avLst/>
          </a:prstGeom>
          <a:noFill/>
          <a:ln/>
        </p:spPr>
        <p:txBody>
          <a:bodyPr wrap="square" rtlCol="0" anchor="t"/>
          <a:lstStyle/>
          <a:p>
            <a:pPr indent="0" marL="0">
              <a:buNone/>
            </a:pPr>
            <a:r>
              <a:rPr lang="en-US" sz="1900" b="1" dirty="0">
                <a:solidFill>
                  <a:srgbClr val="13233B"/>
                </a:solidFill>
                <a:latin typeface="Cambria" pitchFamily="34" charset="0"/>
                <a:ea typeface="Cambria" pitchFamily="34" charset="-122"/>
                <a:cs typeface="Cambria" pitchFamily="34" charset="-120"/>
              </a:rPr>
              <a:t>Kicker/dribbler/camera — why or why not? Materials? How did you make the wheels?</a:t>
            </a:r>
            <a:endParaRPr lang="en-US" sz="1900" dirty="0"/>
          </a:p>
        </p:txBody>
      </p:sp>
      <p:sp>
        <p:nvSpPr>
          <p:cNvPr id="6" name="Shape 4"/>
          <p:cNvSpPr/>
          <p:nvPr/>
        </p:nvSpPr>
        <p:spPr>
          <a:xfrm>
            <a:off x="365760" y="1783080"/>
            <a:ext cx="4937760" cy="2331720"/>
          </a:xfrm>
          <a:prstGeom prst="roundRect">
            <a:avLst>
              <a:gd name="adj" fmla="val 1961"/>
            </a:avLst>
          </a:prstGeom>
          <a:solidFill>
            <a:srgbClr val="1FA75B">
              <a:alpha val="9000"/>
            </a:srgbClr>
          </a:solidFill>
          <a:ln w="12700">
            <a:solidFill>
              <a:srgbClr val="1FA75B">
                <a:alpha val="45000"/>
              </a:srgbClr>
            </a:solidFill>
            <a:prstDash val="solid"/>
          </a:ln>
        </p:spPr>
        <p:txBody>
          <a:bodyPr/>
          <a:p/>
        </p:txBody>
      </p:sp>
      <p:sp>
        <p:nvSpPr>
          <p:cNvPr id="7" name="Text 5"/>
          <p:cNvSpPr/>
          <p:nvPr/>
        </p:nvSpPr>
        <p:spPr>
          <a:xfrm>
            <a:off x="548640" y="1874520"/>
            <a:ext cx="4572000" cy="2148840"/>
          </a:xfrm>
          <a:prstGeom prst="rect">
            <a:avLst/>
          </a:prstGeom>
          <a:noFill/>
          <a:ln/>
        </p:spPr>
        <p:txBody>
          <a:bodyPr wrap="square" rtlCol="0" anchor="t">
            <a:normAutofit/>
          </a:bodyPr>
          <a:lstStyle/>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Kicker YES: 48 V solenoid scores decisively; defender reuses it to clear. Dribbler NO: printed mouth + solenoid already control the ball in the legal 1.5 cm zone.</a:t>
            </a:r>
            <a:endParaRPr lang="en-US" sz="1300" dirty="0"/>
          </a:p>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Camera YES: goal aim + short-range ball reconfirmation.</a:t>
            </a:r>
            <a:endParaRPr lang="en-US" sz="1300" dirty="0"/>
          </a:p>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Materials: PETG structure (stiff, impact-tough), TPU roller grip — after collision testing.</a:t>
            </a:r>
            <a:endParaRPr lang="en-US" sz="1300" dirty="0"/>
          </a:p>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Wheels: fully printed — PETG hub, TPU rollers (15% infill), printed PETG axle; 3 print rounds.</a:t>
            </a:r>
            <a:endParaRPr lang="en-US" sz="1300" dirty="0"/>
          </a:p>
        </p:txBody>
      </p:sp>
      <p:pic>
        <p:nvPicPr>
          <p:cNvPr id="8" name="Image 0" descr="/sessions/gifted-vigilant-johnson/mnt/outputs/img/wheel.jpg">    </p:cNvPr>
          <p:cNvPicPr>
            <a:picLocks noChangeAspect="1"/>
          </p:cNvPicPr>
          <p:nvPr/>
        </p:nvPicPr>
        <p:blipFill>
          <a:blip r:embed="rId1"/>
          <a:stretch>
            <a:fillRect/>
          </a:stretch>
        </p:blipFill>
        <p:spPr>
          <a:xfrm>
            <a:off x="5585841" y="1810512"/>
            <a:ext cx="3047238" cy="2286000"/>
          </a:xfrm>
          <a:prstGeom prst="rect">
            <a:avLst/>
          </a:prstGeom>
          <a:effectLst>
            <a:outerShdw sx="100000" sy="100000" kx="0" ky="0" algn="bl" rotWithShape="0" blurRad="101600" dist="38100" dir="5400000">
              <a:srgbClr val="555f6b">
                <a:alpha val="35000"/>
              </a:srgbClr>
            </a:outerShdw>
          </a:effectLst>
        </p:spPr>
      </p:pic>
      <p:sp>
        <p:nvSpPr>
          <p:cNvPr id="9" name="Shape 6"/>
          <p:cNvSpPr/>
          <p:nvPr/>
        </p:nvSpPr>
        <p:spPr>
          <a:xfrm>
            <a:off x="5585841" y="1810512"/>
            <a:ext cx="3047238" cy="2286000"/>
          </a:xfrm>
          <a:prstGeom prst="rect">
            <a:avLst/>
          </a:prstGeom>
          <a:ln w="19050">
            <a:solidFill>
              <a:srgbClr val="1FA75B"/>
            </a:solidFill>
            <a:prstDash val="solid"/>
          </a:ln>
        </p:spPr>
        <p:txBody>
          <a:bodyPr/>
          <a:p/>
        </p:txBody>
      </p:sp>
      <p:sp>
        <p:nvSpPr>
          <p:cNvPr id="10" name="Text 7"/>
          <p:cNvSpPr/>
          <p:nvPr/>
        </p:nvSpPr>
        <p:spPr>
          <a:xfrm>
            <a:off x="5486400" y="4114800"/>
            <a:ext cx="3246120" cy="219456"/>
          </a:xfrm>
          <a:prstGeom prst="rect">
            <a:avLst/>
          </a:prstGeom>
          <a:noFill/>
          <a:ln/>
        </p:spPr>
        <p:txBody>
          <a:bodyPr wrap="square" lIns="0" tIns="0" rIns="0" bIns="0" rtlCol="0" anchor="ctr"/>
          <a:lstStyle/>
          <a:p>
            <a:pPr algn="ctr" indent="0" marL="0">
              <a:buNone/>
            </a:pPr>
            <a:r>
              <a:rPr lang="en-US" sz="950" i="1" dirty="0">
                <a:solidFill>
                  <a:srgbClr val="5C6773"/>
                </a:solidFill>
                <a:latin typeface="Calibri" pitchFamily="34" charset="0"/>
                <a:ea typeface="Calibri" pitchFamily="34" charset="-122"/>
                <a:cs typeface="Calibri" pitchFamily="34" charset="-120"/>
              </a:rPr>
              <a:t>Self-printed PETG + TPU omni wheel</a:t>
            </a:r>
            <a:endParaRPr lang="en-US" sz="950" dirty="0"/>
          </a:p>
        </p:txBody>
      </p:sp>
      <p:sp>
        <p:nvSpPr>
          <p:cNvPr id="11" name="Text 8"/>
          <p:cNvSpPr/>
          <p:nvPr/>
        </p:nvSpPr>
        <p:spPr>
          <a:xfrm>
            <a:off x="457200" y="4343400"/>
            <a:ext cx="8229600" cy="320040"/>
          </a:xfrm>
          <a:prstGeom prst="rect">
            <a:avLst/>
          </a:prstGeom>
          <a:noFill/>
          <a:ln/>
        </p:spPr>
        <p:txBody>
          <a:bodyPr wrap="square" lIns="0" tIns="0" rIns="0" bIns="0" rtlCol="0" anchor="ctr"/>
          <a:lstStyle/>
          <a:p>
            <a:pPr indent="0" marL="0">
              <a:buNone/>
            </a:pPr>
            <a:r>
              <a:rPr lang="en-US" sz="1100" b="1" dirty="0">
                <a:solidFill>
                  <a:srgbClr val="1FA75B"/>
                </a:solidFill>
                <a:latin typeface="Calibri" pitchFamily="34" charset="0"/>
                <a:ea typeface="Calibri" pitchFamily="34" charset="-122"/>
                <a:cs typeface="Calibri" pitchFamily="34" charset="-120"/>
              </a:rPr>
              <a:t>Evidence: </a:t>
            </a:r>
            <a:pPr indent="0" marL="0">
              <a:buNone/>
            </a:pPr>
            <a:r>
              <a:rPr lang="en-US" sz="1100" i="1" dirty="0">
                <a:solidFill>
                  <a:srgbClr val="5C6773"/>
                </a:solidFill>
                <a:latin typeface="Calibri" pitchFamily="34" charset="0"/>
                <a:ea typeface="Calibri" pitchFamily="34" charset="-122"/>
                <a:cs typeface="Calibri" pitchFamily="34" charset="-120"/>
              </a:rPr>
              <a:t>'Wheel Opened Up' + 'Support Beams 3D Model'.</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457200" cy="457200"/>
          </a:xfrm>
          <a:prstGeom prst="ellipse">
            <a:avLst/>
          </a:prstGeom>
          <a:solidFill>
            <a:srgbClr val="D64545"/>
          </a:solidFill>
          <a:ln/>
        </p:spPr>
        <p:txBody>
          <a:bodyPr/>
          <a:p/>
        </p:txBody>
      </p:sp>
      <p:sp>
        <p:nvSpPr>
          <p:cNvPr id="3" name="Text 1"/>
          <p:cNvSpPr/>
          <p:nvPr/>
        </p:nvSpPr>
        <p:spPr>
          <a:xfrm>
            <a:off x="457200" y="3657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Q</a:t>
            </a:r>
            <a:endParaRPr lang="en-US" sz="1700" dirty="0"/>
          </a:p>
        </p:txBody>
      </p:sp>
      <p:sp>
        <p:nvSpPr>
          <p:cNvPr id="4" name="Text 2"/>
          <p:cNvSpPr/>
          <p:nvPr/>
        </p:nvSpPr>
        <p:spPr>
          <a:xfrm>
            <a:off x="1051560" y="365760"/>
            <a:ext cx="7589520" cy="457200"/>
          </a:xfrm>
          <a:prstGeom prst="rect">
            <a:avLst/>
          </a:prstGeom>
          <a:noFill/>
          <a:ln/>
        </p:spPr>
        <p:txBody>
          <a:bodyPr wrap="square" lIns="0" tIns="0" rIns="0" bIns="0" rtlCol="0" anchor="ctr"/>
          <a:lstStyle/>
          <a:p>
            <a:pPr indent="0" marL="0">
              <a:buNone/>
            </a:pPr>
            <a:r>
              <a:rPr lang="en-US" sz="1250" b="1" spc="200" kern="0" dirty="0">
                <a:solidFill>
                  <a:srgbClr val="D64545"/>
                </a:solidFill>
                <a:latin typeface="Calibri" pitchFamily="34" charset="0"/>
                <a:ea typeface="Calibri" pitchFamily="34" charset="-122"/>
                <a:cs typeface="Calibri" pitchFamily="34" charset="-120"/>
              </a:rPr>
              <a:t>FAQ · STRATEGY</a:t>
            </a:r>
            <a:endParaRPr lang="en-US" sz="1250" dirty="0"/>
          </a:p>
        </p:txBody>
      </p:sp>
      <p:sp>
        <p:nvSpPr>
          <p:cNvPr id="5" name="Text 3"/>
          <p:cNvSpPr/>
          <p:nvPr/>
        </p:nvSpPr>
        <p:spPr>
          <a:xfrm>
            <a:off x="457200" y="841248"/>
            <a:ext cx="8229600" cy="822960"/>
          </a:xfrm>
          <a:prstGeom prst="rect">
            <a:avLst/>
          </a:prstGeom>
          <a:noFill/>
          <a:ln/>
        </p:spPr>
        <p:txBody>
          <a:bodyPr wrap="square" rtlCol="0" anchor="t"/>
          <a:lstStyle/>
          <a:p>
            <a:pPr indent="0" marL="0">
              <a:buNone/>
            </a:pPr>
            <a:r>
              <a:rPr lang="en-US" sz="1900" b="1" dirty="0">
                <a:solidFill>
                  <a:srgbClr val="13233B"/>
                </a:solidFill>
                <a:latin typeface="Cambria" pitchFamily="34" charset="0"/>
                <a:ea typeface="Cambria" pitchFamily="34" charset="-122"/>
                <a:cs typeface="Cambria" pitchFamily="34" charset="-120"/>
              </a:rPr>
              <a:t>Robots here, ball here — what do they do? Occluded goal / ball not in view?</a:t>
            </a:r>
            <a:endParaRPr lang="en-US" sz="1900" dirty="0"/>
          </a:p>
        </p:txBody>
      </p:sp>
      <p:sp>
        <p:nvSpPr>
          <p:cNvPr id="6" name="Shape 4"/>
          <p:cNvSpPr/>
          <p:nvPr/>
        </p:nvSpPr>
        <p:spPr>
          <a:xfrm>
            <a:off x="365760" y="1783080"/>
            <a:ext cx="4937760" cy="2331720"/>
          </a:xfrm>
          <a:prstGeom prst="roundRect">
            <a:avLst>
              <a:gd name="adj" fmla="val 1961"/>
            </a:avLst>
          </a:prstGeom>
          <a:solidFill>
            <a:srgbClr val="D64545">
              <a:alpha val="9000"/>
            </a:srgbClr>
          </a:solidFill>
          <a:ln w="12700">
            <a:solidFill>
              <a:srgbClr val="D64545">
                <a:alpha val="45000"/>
              </a:srgbClr>
            </a:solidFill>
            <a:prstDash val="solid"/>
          </a:ln>
        </p:spPr>
        <p:txBody>
          <a:bodyPr/>
          <a:p/>
        </p:txBody>
      </p:sp>
      <p:sp>
        <p:nvSpPr>
          <p:cNvPr id="7" name="Text 5"/>
          <p:cNvSpPr/>
          <p:nvPr/>
        </p:nvSpPr>
        <p:spPr>
          <a:xfrm>
            <a:off x="548640" y="1874520"/>
            <a:ext cx="4572000" cy="2148840"/>
          </a:xfrm>
          <a:prstGeom prst="rect">
            <a:avLst/>
          </a:prstGeom>
          <a:noFill/>
          <a:ln/>
        </p:spPr>
        <p:txBody>
          <a:bodyPr wrap="square" rtlCol="0" anchor="t">
            <a:normAutofit/>
          </a:bodyPr>
          <a:lstStyle/>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Attacker sorts the bearing into a drive sector, translates straight at the ball (speed 250), gyro holds heading; on capture spins to the open corner (+/-5°) and kicks.</a:t>
            </a:r>
            <a:endParaRPr lang="en-US" sz="1300" dirty="0"/>
          </a:p>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Defender stays on the line, lateral PID between ball and goal; only leaves to CLEAR on contact.</a:t>
            </a:r>
            <a:endParaRPr lang="en-US" sz="1300" dirty="0"/>
          </a:p>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Occluded goal: no clean opening → corner-aim from the heading estimate, don't fire blindly.</a:t>
            </a:r>
            <a:endParaRPr lang="en-US" sz="1300" dirty="0"/>
          </a:p>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Ball not in view (IR = 500): attacker sweeps/holds, stays legal via line + ultrasonics; defender re-homes to GUARD.</a:t>
            </a:r>
            <a:endParaRPr lang="en-US" sz="1300" dirty="0"/>
          </a:p>
        </p:txBody>
      </p:sp>
      <p:pic>
        <p:nvPicPr>
          <p:cNvPr id="8" name="Image 0" descr="/sessions/gifted-vigilant-johnson/mnt/outputs/img/diagram_strategy.png">    </p:cNvPr>
          <p:cNvPicPr>
            <a:picLocks noChangeAspect="1"/>
          </p:cNvPicPr>
          <p:nvPr/>
        </p:nvPicPr>
        <p:blipFill>
          <a:blip r:embed="rId1"/>
          <a:stretch>
            <a:fillRect/>
          </a:stretch>
        </p:blipFill>
        <p:spPr>
          <a:xfrm>
            <a:off x="5486400" y="1939100"/>
            <a:ext cx="3246120" cy="2028825"/>
          </a:xfrm>
          <a:prstGeom prst="rect">
            <a:avLst/>
          </a:prstGeom>
          <a:effectLst>
            <a:outerShdw sx="100000" sy="100000" kx="0" ky="0" algn="bl" rotWithShape="0" blurRad="101600" dist="38100" dir="5400000">
              <a:srgbClr val="555f6b">
                <a:alpha val="35000"/>
              </a:srgbClr>
            </a:outerShdw>
          </a:effectLst>
        </p:spPr>
      </p:pic>
      <p:sp>
        <p:nvSpPr>
          <p:cNvPr id="9" name="Shape 6"/>
          <p:cNvSpPr/>
          <p:nvPr/>
        </p:nvSpPr>
        <p:spPr>
          <a:xfrm>
            <a:off x="5486400" y="1939100"/>
            <a:ext cx="3246120" cy="2028825"/>
          </a:xfrm>
          <a:prstGeom prst="rect">
            <a:avLst/>
          </a:prstGeom>
          <a:ln w="19050">
            <a:solidFill>
              <a:srgbClr val="D64545"/>
            </a:solidFill>
            <a:prstDash val="solid"/>
          </a:ln>
        </p:spPr>
        <p:txBody>
          <a:bodyPr/>
          <a:p/>
        </p:txBody>
      </p:sp>
      <p:sp>
        <p:nvSpPr>
          <p:cNvPr id="10" name="Text 7"/>
          <p:cNvSpPr/>
          <p:nvPr/>
        </p:nvSpPr>
        <p:spPr>
          <a:xfrm>
            <a:off x="5486400" y="4114800"/>
            <a:ext cx="3246120" cy="219456"/>
          </a:xfrm>
          <a:prstGeom prst="rect">
            <a:avLst/>
          </a:prstGeom>
          <a:noFill/>
          <a:ln/>
        </p:spPr>
        <p:txBody>
          <a:bodyPr wrap="square" lIns="0" tIns="0" rIns="0" bIns="0" rtlCol="0" anchor="ctr"/>
          <a:lstStyle/>
          <a:p>
            <a:pPr algn="ctr" indent="0" marL="0">
              <a:buNone/>
            </a:pPr>
            <a:r>
              <a:rPr lang="en-US" sz="950" i="1" dirty="0">
                <a:solidFill>
                  <a:srgbClr val="5C6773"/>
                </a:solidFill>
                <a:latin typeface="Calibri" pitchFamily="34" charset="0"/>
                <a:ea typeface="Calibri" pitchFamily="34" charset="-122"/>
                <a:cs typeface="Calibri" pitchFamily="34" charset="-120"/>
              </a:rPr>
              <a:t>Attacker + defender roles</a:t>
            </a:r>
            <a:endParaRPr lang="en-US" sz="950" dirty="0"/>
          </a:p>
        </p:txBody>
      </p:sp>
      <p:sp>
        <p:nvSpPr>
          <p:cNvPr id="11" name="Text 8"/>
          <p:cNvSpPr/>
          <p:nvPr/>
        </p:nvSpPr>
        <p:spPr>
          <a:xfrm>
            <a:off x="457200" y="4343400"/>
            <a:ext cx="8229600" cy="320040"/>
          </a:xfrm>
          <a:prstGeom prst="rect">
            <a:avLst/>
          </a:prstGeom>
          <a:noFill/>
          <a:ln/>
        </p:spPr>
        <p:txBody>
          <a:bodyPr wrap="square" lIns="0" tIns="0" rIns="0" bIns="0" rtlCol="0" anchor="ctr"/>
          <a:lstStyle/>
          <a:p>
            <a:pPr indent="0" marL="0">
              <a:buNone/>
            </a:pPr>
            <a:r>
              <a:rPr lang="en-US" sz="1100" b="1" dirty="0">
                <a:solidFill>
                  <a:srgbClr val="D64545"/>
                </a:solidFill>
                <a:latin typeface="Calibri" pitchFamily="34" charset="0"/>
                <a:ea typeface="Calibri" pitchFamily="34" charset="-122"/>
                <a:cs typeface="Calibri" pitchFamily="34" charset="-120"/>
              </a:rPr>
              <a:t>Evidence: </a:t>
            </a:r>
            <a:pPr indent="0" marL="0">
              <a:buNone/>
            </a:pPr>
            <a:r>
              <a:rPr lang="en-US" sz="1100" i="1" dirty="0">
                <a:solidFill>
                  <a:srgbClr val="5C6773"/>
                </a:solidFill>
                <a:latin typeface="Calibri" pitchFamily="34" charset="0"/>
                <a:ea typeface="Calibri" pitchFamily="34" charset="-122"/>
                <a:cs typeface="Calibri" pitchFamily="34" charset="-120"/>
              </a:rPr>
              <a:t>Slide 7 field diagram.</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457200" cy="457200"/>
          </a:xfrm>
          <a:prstGeom prst="ellipse">
            <a:avLst/>
          </a:prstGeom>
          <a:solidFill>
            <a:srgbClr val="6C4CC4"/>
          </a:solidFill>
          <a:ln/>
        </p:spPr>
        <p:txBody>
          <a:bodyPr/>
          <a:p/>
        </p:txBody>
      </p:sp>
      <p:sp>
        <p:nvSpPr>
          <p:cNvPr id="3" name="Text 1"/>
          <p:cNvSpPr/>
          <p:nvPr/>
        </p:nvSpPr>
        <p:spPr>
          <a:xfrm>
            <a:off x="457200" y="3657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Q</a:t>
            </a:r>
            <a:endParaRPr lang="en-US" sz="1700" dirty="0"/>
          </a:p>
        </p:txBody>
      </p:sp>
      <p:sp>
        <p:nvSpPr>
          <p:cNvPr id="4" name="Text 2"/>
          <p:cNvSpPr/>
          <p:nvPr/>
        </p:nvSpPr>
        <p:spPr>
          <a:xfrm>
            <a:off x="1051560" y="365760"/>
            <a:ext cx="7589520" cy="457200"/>
          </a:xfrm>
          <a:prstGeom prst="rect">
            <a:avLst/>
          </a:prstGeom>
          <a:noFill/>
          <a:ln/>
        </p:spPr>
        <p:txBody>
          <a:bodyPr wrap="square" lIns="0" tIns="0" rIns="0" bIns="0" rtlCol="0" anchor="ctr"/>
          <a:lstStyle/>
          <a:p>
            <a:pPr indent="0" marL="0">
              <a:buNone/>
            </a:pPr>
            <a:r>
              <a:rPr lang="en-US" sz="1250" b="1" spc="200" kern="0" dirty="0">
                <a:solidFill>
                  <a:srgbClr val="6C4CC4"/>
                </a:solidFill>
                <a:latin typeface="Calibri" pitchFamily="34" charset="0"/>
                <a:ea typeface="Calibri" pitchFamily="34" charset="-122"/>
                <a:cs typeface="Calibri" pitchFamily="34" charset="-120"/>
              </a:rPr>
              <a:t>FAQ · SOFTWARE</a:t>
            </a:r>
            <a:endParaRPr lang="en-US" sz="1250" dirty="0"/>
          </a:p>
        </p:txBody>
      </p:sp>
      <p:sp>
        <p:nvSpPr>
          <p:cNvPr id="5" name="Text 3"/>
          <p:cNvSpPr/>
          <p:nvPr/>
        </p:nvSpPr>
        <p:spPr>
          <a:xfrm>
            <a:off x="457200" y="841248"/>
            <a:ext cx="8229600" cy="822960"/>
          </a:xfrm>
          <a:prstGeom prst="rect">
            <a:avLst/>
          </a:prstGeom>
          <a:noFill/>
          <a:ln/>
        </p:spPr>
        <p:txBody>
          <a:bodyPr wrap="square" rtlCol="0" anchor="t"/>
          <a:lstStyle/>
          <a:p>
            <a:pPr indent="0" marL="0">
              <a:buNone/>
            </a:pPr>
            <a:r>
              <a:rPr lang="en-US" sz="1900" b="1" dirty="0">
                <a:solidFill>
                  <a:srgbClr val="13233B"/>
                </a:solidFill>
                <a:latin typeface="Cambria" pitchFamily="34" charset="0"/>
                <a:ea typeface="Cambria" pitchFamily="34" charset="-122"/>
                <a:cs typeface="Cambria" pitchFamily="34" charset="-120"/>
              </a:rPr>
              <a:t>How does it make sense of sensors? How do you avoid out-of-bounds / getting stuck?</a:t>
            </a:r>
            <a:endParaRPr lang="en-US" sz="1900" dirty="0"/>
          </a:p>
        </p:txBody>
      </p:sp>
      <p:sp>
        <p:nvSpPr>
          <p:cNvPr id="6" name="Shape 4"/>
          <p:cNvSpPr/>
          <p:nvPr/>
        </p:nvSpPr>
        <p:spPr>
          <a:xfrm>
            <a:off x="365760" y="1783080"/>
            <a:ext cx="4937760" cy="2331720"/>
          </a:xfrm>
          <a:prstGeom prst="roundRect">
            <a:avLst>
              <a:gd name="adj" fmla="val 1961"/>
            </a:avLst>
          </a:prstGeom>
          <a:solidFill>
            <a:srgbClr val="6C4CC4">
              <a:alpha val="9000"/>
            </a:srgbClr>
          </a:solidFill>
          <a:ln w="12700">
            <a:solidFill>
              <a:srgbClr val="6C4CC4">
                <a:alpha val="45000"/>
              </a:srgbClr>
            </a:solidFill>
            <a:prstDash val="solid"/>
          </a:ln>
        </p:spPr>
        <p:txBody>
          <a:bodyPr/>
          <a:p/>
        </p:txBody>
      </p:sp>
      <p:sp>
        <p:nvSpPr>
          <p:cNvPr id="7" name="Text 5"/>
          <p:cNvSpPr/>
          <p:nvPr/>
        </p:nvSpPr>
        <p:spPr>
          <a:xfrm>
            <a:off x="548640" y="1874520"/>
            <a:ext cx="4572000" cy="2148840"/>
          </a:xfrm>
          <a:prstGeom prst="rect">
            <a:avLst/>
          </a:prstGeom>
          <a:noFill/>
          <a:ln/>
        </p:spPr>
        <p:txBody>
          <a:bodyPr wrap="square" rtlCol="0" anchor="t">
            <a:normAutofit/>
          </a:bodyPr>
          <a:lstStyle/>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Each board pre-processes and sends a compact message: IR &lt;dir&gt;a&lt;dist&gt;b (500 = no ball); camera a framed packet; ultrasonic/line CRC-framed. Stale links (&gt; 200 ms) ignored.</a:t>
            </a:r>
            <a:endParaRPr lang="en-US" sz="1300" dirty="0"/>
          </a:p>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Main board fuses: IR+camera for the ball, line+ultrasonic for boundaries, IMU for heading.</a:t>
            </a:r>
            <a:endParaRPr lang="en-US" sz="1300" dirty="0"/>
          </a:p>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Out of bounds: two-of-two rule — a side is the edge only when ultrasonic &lt; 300 mm AND that side sees white, debounced 3 passes.</a:t>
            </a:r>
            <a:endParaRPr lang="en-US" sz="1300" dirty="0"/>
          </a:p>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Defender back-wall rule: no reversing toward our own goal under 90 mm.</a:t>
            </a:r>
            <a:endParaRPr lang="en-US" sz="1300" dirty="0"/>
          </a:p>
        </p:txBody>
      </p:sp>
      <p:pic>
        <p:nvPicPr>
          <p:cNvPr id="8" name="Image 0" descr="/sessions/gifted-vigilant-johnson/mnt/outputs/img/door_flap.jpg">    </p:cNvPr>
          <p:cNvPicPr>
            <a:picLocks noChangeAspect="1"/>
          </p:cNvPicPr>
          <p:nvPr/>
        </p:nvPicPr>
        <p:blipFill>
          <a:blip r:embed="rId1"/>
          <a:stretch>
            <a:fillRect/>
          </a:stretch>
        </p:blipFill>
        <p:spPr>
          <a:xfrm>
            <a:off x="5585841" y="1810512"/>
            <a:ext cx="3047238" cy="2286000"/>
          </a:xfrm>
          <a:prstGeom prst="rect">
            <a:avLst/>
          </a:prstGeom>
          <a:effectLst>
            <a:outerShdw sx="100000" sy="100000" kx="0" ky="0" algn="bl" rotWithShape="0" blurRad="101600" dist="38100" dir="5400000">
              <a:srgbClr val="555f6b">
                <a:alpha val="35000"/>
              </a:srgbClr>
            </a:outerShdw>
          </a:effectLst>
        </p:spPr>
      </p:pic>
      <p:sp>
        <p:nvSpPr>
          <p:cNvPr id="9" name="Shape 6"/>
          <p:cNvSpPr/>
          <p:nvPr/>
        </p:nvSpPr>
        <p:spPr>
          <a:xfrm>
            <a:off x="5585841" y="1810512"/>
            <a:ext cx="3047238" cy="2286000"/>
          </a:xfrm>
          <a:prstGeom prst="rect">
            <a:avLst/>
          </a:prstGeom>
          <a:ln w="19050">
            <a:solidFill>
              <a:srgbClr val="6C4CC4"/>
            </a:solidFill>
            <a:prstDash val="solid"/>
          </a:ln>
        </p:spPr>
        <p:txBody>
          <a:bodyPr/>
          <a:p/>
        </p:txBody>
      </p:sp>
      <p:sp>
        <p:nvSpPr>
          <p:cNvPr id="10" name="Text 7"/>
          <p:cNvSpPr/>
          <p:nvPr/>
        </p:nvSpPr>
        <p:spPr>
          <a:xfrm>
            <a:off x="5486400" y="4114800"/>
            <a:ext cx="3246120" cy="219456"/>
          </a:xfrm>
          <a:prstGeom prst="rect">
            <a:avLst/>
          </a:prstGeom>
          <a:noFill/>
          <a:ln/>
        </p:spPr>
        <p:txBody>
          <a:bodyPr wrap="square" lIns="0" tIns="0" rIns="0" bIns="0" rtlCol="0" anchor="ctr"/>
          <a:lstStyle/>
          <a:p>
            <a:pPr algn="ctr" indent="0" marL="0">
              <a:buNone/>
            </a:pPr>
            <a:r>
              <a:rPr lang="en-US" sz="950" i="1" dirty="0">
                <a:solidFill>
                  <a:srgbClr val="5C6773"/>
                </a:solidFill>
                <a:latin typeface="Calibri" pitchFamily="34" charset="0"/>
                <a:ea typeface="Calibri" pitchFamily="34" charset="-122"/>
                <a:cs typeface="Calibri" pitchFamily="34" charset="-120"/>
              </a:rPr>
              <a:t>Debug door flap for live calibration</a:t>
            </a:r>
            <a:endParaRPr lang="en-US" sz="950" dirty="0"/>
          </a:p>
        </p:txBody>
      </p:sp>
      <p:sp>
        <p:nvSpPr>
          <p:cNvPr id="11" name="Text 8"/>
          <p:cNvSpPr/>
          <p:nvPr/>
        </p:nvSpPr>
        <p:spPr>
          <a:xfrm>
            <a:off x="457200" y="4343400"/>
            <a:ext cx="8229600" cy="320040"/>
          </a:xfrm>
          <a:prstGeom prst="rect">
            <a:avLst/>
          </a:prstGeom>
          <a:noFill/>
          <a:ln/>
        </p:spPr>
        <p:txBody>
          <a:bodyPr wrap="square" lIns="0" tIns="0" rIns="0" bIns="0" rtlCol="0" anchor="ctr"/>
          <a:lstStyle/>
          <a:p>
            <a:pPr indent="0" marL="0">
              <a:buNone/>
            </a:pPr>
            <a:r>
              <a:rPr lang="en-US" sz="1100" b="1" dirty="0">
                <a:solidFill>
                  <a:srgbClr val="6C4CC4"/>
                </a:solidFill>
                <a:latin typeface="Calibri" pitchFamily="34" charset="0"/>
                <a:ea typeface="Calibri" pitchFamily="34" charset="-122"/>
                <a:cs typeface="Calibri" pitchFamily="34" charset="-120"/>
              </a:rPr>
              <a:t>Evidence: </a:t>
            </a:r>
            <a:pPr indent="0" marL="0">
              <a:buNone/>
            </a:pPr>
            <a:r>
              <a:rPr lang="en-US" sz="1100" i="1" dirty="0">
                <a:solidFill>
                  <a:srgbClr val="5C6773"/>
                </a:solidFill>
                <a:latin typeface="Calibri" pitchFamily="34" charset="0"/>
                <a:ea typeface="Calibri" pitchFamily="34" charset="-122"/>
                <a:cs typeface="Calibri" pitchFamily="34" charset="-120"/>
              </a:rPr>
              <a:t>Block diagram + IR vector-sum panel.</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457200" cy="457200"/>
          </a:xfrm>
          <a:prstGeom prst="ellipse">
            <a:avLst/>
          </a:prstGeom>
          <a:solidFill>
            <a:srgbClr val="E8912A"/>
          </a:solidFill>
          <a:ln/>
        </p:spPr>
        <p:txBody>
          <a:bodyPr/>
          <a:p/>
        </p:txBody>
      </p:sp>
      <p:sp>
        <p:nvSpPr>
          <p:cNvPr id="3" name="Text 1"/>
          <p:cNvSpPr/>
          <p:nvPr/>
        </p:nvSpPr>
        <p:spPr>
          <a:xfrm>
            <a:off x="457200" y="3657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Q</a:t>
            </a:r>
            <a:endParaRPr lang="en-US" sz="1700" dirty="0"/>
          </a:p>
        </p:txBody>
      </p:sp>
      <p:sp>
        <p:nvSpPr>
          <p:cNvPr id="4" name="Text 2"/>
          <p:cNvSpPr/>
          <p:nvPr/>
        </p:nvSpPr>
        <p:spPr>
          <a:xfrm>
            <a:off x="1051560" y="365760"/>
            <a:ext cx="7589520" cy="457200"/>
          </a:xfrm>
          <a:prstGeom prst="rect">
            <a:avLst/>
          </a:prstGeom>
          <a:noFill/>
          <a:ln/>
        </p:spPr>
        <p:txBody>
          <a:bodyPr wrap="square" lIns="0" tIns="0" rIns="0" bIns="0" rtlCol="0" anchor="ctr"/>
          <a:lstStyle/>
          <a:p>
            <a:pPr indent="0" marL="0">
              <a:buNone/>
            </a:pPr>
            <a:r>
              <a:rPr lang="en-US" sz="1250" b="1" spc="200" kern="0" dirty="0">
                <a:solidFill>
                  <a:srgbClr val="E8912A"/>
                </a:solidFill>
                <a:latin typeface="Calibri" pitchFamily="34" charset="0"/>
                <a:ea typeface="Calibri" pitchFamily="34" charset="-122"/>
                <a:cs typeface="Calibri" pitchFamily="34" charset="-120"/>
              </a:rPr>
              <a:t>FAQ · DEVELOPMENT &amp; DOCUMENTATION</a:t>
            </a:r>
            <a:endParaRPr lang="en-US" sz="1250" dirty="0"/>
          </a:p>
        </p:txBody>
      </p:sp>
      <p:sp>
        <p:nvSpPr>
          <p:cNvPr id="5" name="Text 3"/>
          <p:cNvSpPr/>
          <p:nvPr/>
        </p:nvSpPr>
        <p:spPr>
          <a:xfrm>
            <a:off x="457200" y="841248"/>
            <a:ext cx="8229600" cy="822960"/>
          </a:xfrm>
          <a:prstGeom prst="rect">
            <a:avLst/>
          </a:prstGeom>
          <a:noFill/>
          <a:ln/>
        </p:spPr>
        <p:txBody>
          <a:bodyPr wrap="square" rtlCol="0" anchor="t"/>
          <a:lstStyle/>
          <a:p>
            <a:pPr indent="0" marL="0">
              <a:buNone/>
            </a:pPr>
            <a:r>
              <a:rPr lang="en-US" sz="1900" b="1" dirty="0">
                <a:solidFill>
                  <a:srgbClr val="13233B"/>
                </a:solidFill>
                <a:latin typeface="Cambria" pitchFamily="34" charset="0"/>
                <a:ea typeface="Cambria" pitchFamily="34" charset="-122"/>
                <a:cs typeface="Cambria" pitchFamily="34" charset="-120"/>
              </a:rPr>
              <a:t>What did you take ideas from? How did you track ideas and testing?</a:t>
            </a:r>
            <a:endParaRPr lang="en-US" sz="1900" dirty="0"/>
          </a:p>
        </p:txBody>
      </p:sp>
      <p:sp>
        <p:nvSpPr>
          <p:cNvPr id="6" name="Shape 4"/>
          <p:cNvSpPr/>
          <p:nvPr/>
        </p:nvSpPr>
        <p:spPr>
          <a:xfrm>
            <a:off x="365760" y="1783080"/>
            <a:ext cx="4937760" cy="2331720"/>
          </a:xfrm>
          <a:prstGeom prst="roundRect">
            <a:avLst>
              <a:gd name="adj" fmla="val 1961"/>
            </a:avLst>
          </a:prstGeom>
          <a:solidFill>
            <a:srgbClr val="E8912A">
              <a:alpha val="9000"/>
            </a:srgbClr>
          </a:solidFill>
          <a:ln w="12700">
            <a:solidFill>
              <a:srgbClr val="E8912A">
                <a:alpha val="45000"/>
              </a:srgbClr>
            </a:solidFill>
            <a:prstDash val="solid"/>
          </a:ln>
        </p:spPr>
        <p:txBody>
          <a:bodyPr/>
          <a:p/>
        </p:txBody>
      </p:sp>
      <p:sp>
        <p:nvSpPr>
          <p:cNvPr id="7" name="Text 5"/>
          <p:cNvSpPr/>
          <p:nvPr/>
        </p:nvSpPr>
        <p:spPr>
          <a:xfrm>
            <a:off x="548640" y="1874520"/>
            <a:ext cx="4572000" cy="2148840"/>
          </a:xfrm>
          <a:prstGeom prst="rect">
            <a:avLst/>
          </a:prstGeom>
          <a:noFill/>
          <a:ln/>
        </p:spPr>
        <p:txBody>
          <a:bodyPr wrap="square" rtlCol="0" anchor="t">
            <a:normAutofit/>
          </a:bodyPr>
          <a:lstStyle/>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Sources: RCJ awesome-rcj-soccer archive; OpenMV docs; Pololu/TI datasheets.</a:t>
            </a:r>
            <a:endParaRPr lang="en-US" sz="1300" dirty="0"/>
          </a:p>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Tracking: Notion board — every idea/task has an owner + deadline; results and 'what we tried' logged there.</a:t>
            </a:r>
            <a:endParaRPr lang="en-US" sz="1300" dirty="0"/>
          </a:p>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Version control: code + issues on GitHub; files on Google Drive.</a:t>
            </a:r>
            <a:endParaRPr lang="en-US" sz="1300" dirty="0"/>
          </a:p>
          <a:p>
            <a:pPr marL="165100" indent="-165100">
              <a:spcAft>
                <a:spcPts val="500"/>
              </a:spcAft>
              <a:buSzPct val="100000"/>
              <a:buChar char="•"/>
            </a:pPr>
            <a:r>
              <a:rPr lang="en-US" sz="1300" dirty="0">
                <a:solidFill>
                  <a:srgbClr val="13233B"/>
                </a:solidFill>
                <a:latin typeface="Calibri" pitchFamily="34" charset="0"/>
                <a:ea typeface="Calibri" pitchFamily="34" charset="-122"/>
                <a:cs typeface="Calibri" pitchFamily="34" charset="-120"/>
              </a:rPr>
              <a:t>Testing ladder: components → single full robot → both robots together (role-switch + comms), with bench + field methods.</a:t>
            </a:r>
            <a:endParaRPr lang="en-US" sz="1300" dirty="0"/>
          </a:p>
        </p:txBody>
      </p:sp>
      <p:pic>
        <p:nvPicPr>
          <p:cNvPr id="8" name="Image 0" descr="/sessions/gifted-vigilant-johnson/mnt/outputs/img/main_schematic.jpg">    </p:cNvPr>
          <p:cNvPicPr>
            <a:picLocks noChangeAspect="1"/>
          </p:cNvPicPr>
          <p:nvPr/>
        </p:nvPicPr>
        <p:blipFill>
          <a:blip r:embed="rId1"/>
          <a:stretch>
            <a:fillRect/>
          </a:stretch>
        </p:blipFill>
        <p:spPr>
          <a:xfrm>
            <a:off x="5486400" y="1859068"/>
            <a:ext cx="3246120" cy="2188887"/>
          </a:xfrm>
          <a:prstGeom prst="rect">
            <a:avLst/>
          </a:prstGeom>
          <a:effectLst>
            <a:outerShdw sx="100000" sy="100000" kx="0" ky="0" algn="bl" rotWithShape="0" blurRad="101600" dist="38100" dir="5400000">
              <a:srgbClr val="555f6b">
                <a:alpha val="35000"/>
              </a:srgbClr>
            </a:outerShdw>
          </a:effectLst>
        </p:spPr>
      </p:pic>
      <p:sp>
        <p:nvSpPr>
          <p:cNvPr id="9" name="Shape 6"/>
          <p:cNvSpPr/>
          <p:nvPr/>
        </p:nvSpPr>
        <p:spPr>
          <a:xfrm>
            <a:off x="5486400" y="1859068"/>
            <a:ext cx="3246120" cy="2188887"/>
          </a:xfrm>
          <a:prstGeom prst="rect">
            <a:avLst/>
          </a:prstGeom>
          <a:ln w="19050">
            <a:solidFill>
              <a:srgbClr val="E8912A"/>
            </a:solidFill>
            <a:prstDash val="solid"/>
          </a:ln>
        </p:spPr>
        <p:txBody>
          <a:bodyPr/>
          <a:p/>
        </p:txBody>
      </p:sp>
      <p:sp>
        <p:nvSpPr>
          <p:cNvPr id="10" name="Text 7"/>
          <p:cNvSpPr/>
          <p:nvPr/>
        </p:nvSpPr>
        <p:spPr>
          <a:xfrm>
            <a:off x="5486400" y="4114800"/>
            <a:ext cx="3246120" cy="219456"/>
          </a:xfrm>
          <a:prstGeom prst="rect">
            <a:avLst/>
          </a:prstGeom>
          <a:noFill/>
          <a:ln/>
        </p:spPr>
        <p:txBody>
          <a:bodyPr wrap="square" lIns="0" tIns="0" rIns="0" bIns="0" rtlCol="0" anchor="ctr"/>
          <a:lstStyle/>
          <a:p>
            <a:pPr algn="ctr" indent="0" marL="0">
              <a:buNone/>
            </a:pPr>
            <a:r>
              <a:rPr lang="en-US" sz="950" i="1" dirty="0">
                <a:solidFill>
                  <a:srgbClr val="5C6773"/>
                </a:solidFill>
                <a:latin typeface="Calibri" pitchFamily="34" charset="0"/>
                <a:ea typeface="Calibri" pitchFamily="34" charset="-122"/>
                <a:cs typeface="Calibri" pitchFamily="34" charset="-120"/>
              </a:rPr>
              <a:t>Published KiCad schematics</a:t>
            </a:r>
            <a:endParaRPr lang="en-US" sz="950" dirty="0"/>
          </a:p>
        </p:txBody>
      </p:sp>
      <p:sp>
        <p:nvSpPr>
          <p:cNvPr id="11" name="Text 8"/>
          <p:cNvSpPr/>
          <p:nvPr/>
        </p:nvSpPr>
        <p:spPr>
          <a:xfrm>
            <a:off x="457200" y="4343400"/>
            <a:ext cx="8229600" cy="320040"/>
          </a:xfrm>
          <a:prstGeom prst="rect">
            <a:avLst/>
          </a:prstGeom>
          <a:noFill/>
          <a:ln/>
        </p:spPr>
        <p:txBody>
          <a:bodyPr wrap="square" lIns="0" tIns="0" rIns="0" bIns="0" rtlCol="0" anchor="ctr"/>
          <a:lstStyle/>
          <a:p>
            <a:pPr indent="0" marL="0">
              <a:buNone/>
            </a:pPr>
            <a:r>
              <a:rPr lang="en-US" sz="1100" b="1" dirty="0">
                <a:solidFill>
                  <a:srgbClr val="E8912A"/>
                </a:solidFill>
                <a:latin typeface="Calibri" pitchFamily="34" charset="0"/>
                <a:ea typeface="Calibri" pitchFamily="34" charset="-122"/>
                <a:cs typeface="Calibri" pitchFamily="34" charset="-120"/>
              </a:rPr>
              <a:t>Evidence: </a:t>
            </a:r>
            <a:pPr indent="0" marL="0">
              <a:buNone/>
            </a:pPr>
            <a:r>
              <a:rPr lang="en-US" sz="1100" i="1" dirty="0">
                <a:solidFill>
                  <a:srgbClr val="5C6773"/>
                </a:solidFill>
                <a:latin typeface="Calibri" pitchFamily="34" charset="0"/>
                <a:ea typeface="Calibri" pitchFamily="34" charset="-122"/>
                <a:cs typeface="Calibri" pitchFamily="34" charset="-120"/>
              </a:rPr>
              <a:t>GitHub repo + Notion screenshots + Slide 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VVS Ballers — RoboCupJunior Soccer Group Interview</dc:title>
  <dc:subject>PptxGenJS Presentation</dc:subject>
  <dc:creator>VVS Ballers</dc:creator>
  <cp:lastModifiedBy>VVS Ballers</cp:lastModifiedBy>
  <cp:revision>1</cp:revision>
  <dcterms:created xsi:type="dcterms:W3CDTF">2026-07-03T01:37:58Z</dcterms:created>
  <dcterms:modified xsi:type="dcterms:W3CDTF">2026-07-03T01:37:58Z</dcterms:modified>
</cp:coreProperties>
</file>